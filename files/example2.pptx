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256" r:id="rId2"/>
    <p:sldId id="267" r:id="rId3"/>
    <p:sldId id="316" r:id="rId4"/>
    <p:sldId id="327" r:id="rId5"/>
    <p:sldId id="317" r:id="rId6"/>
    <p:sldId id="319" r:id="rId7"/>
    <p:sldId id="330" r:id="rId8"/>
    <p:sldId id="331" r:id="rId9"/>
    <p:sldId id="299" r:id="rId10"/>
    <p:sldId id="329" r:id="rId11"/>
    <p:sldId id="323" r:id="rId12"/>
    <p:sldId id="304" r:id="rId13"/>
    <p:sldId id="328" r:id="rId14"/>
    <p:sldId id="303" r:id="rId15"/>
    <p:sldId id="332" r:id="rId16"/>
    <p:sldId id="326" r:id="rId17"/>
    <p:sldId id="333" r:id="rId18"/>
    <p:sldId id="305" r:id="rId19"/>
    <p:sldId id="325" r:id="rId20"/>
  </p:sldIdLst>
  <p:sldSz cx="9144000" cy="6858000" type="screen4x3"/>
  <p:notesSz cx="7010400" cy="92964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87556" autoAdjust="0"/>
  </p:normalViewPr>
  <p:slideViewPr>
    <p:cSldViewPr>
      <p:cViewPr varScale="1">
        <p:scale>
          <a:sx n="106" d="100"/>
          <a:sy n="106" d="100"/>
        </p:scale>
        <p:origin x="2074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074703F0-1602-4E57-A604-83E24FD7337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r>
              <a:rPr lang="en-US"/>
              <a:t>1.) Laia Tremosa (2023). "Beyond AR vs. VR: What is the Difference between AR vs. MR vs. VR vs. XR?," Interaction Design Foundation.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AE998846-AF5D-4682-836C-70AABC9B0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878310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C49167E-3FA4-4F88-AE23-26D23B631370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r>
              <a:rPr lang="en-US"/>
              <a:t>1.) Laia Tremosa (2023). "Beyond AR vs. VR: What is the Difference between AR vs. MR vs. VR vs. XR?," Interaction Design Foundation.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BB6DE06-10E7-486D-A122-0D831E85794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139381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workshop</a:t>
            </a:r>
            <a:r>
              <a:rPr lang="en-US" baseline="0" dirty="0"/>
              <a:t> is Intro to Virtual Reality (VR), presented by Jake Syma, Associate Librarian.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70BE3-F76B-DF1A-E804-071198124AE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1.) Laia Tremosa (2023). "Beyond AR vs. VR: What is the Difference between AR vs. MR vs. VR vs. XR?," Interaction Design Foundation.</a:t>
            </a:r>
          </a:p>
        </p:txBody>
      </p:sp>
    </p:spTree>
    <p:extLst>
      <p:ext uri="{BB962C8B-B14F-4D97-AF65-F5344CB8AC3E}">
        <p14:creationId xmlns:p14="http://schemas.microsoft.com/office/powerpoint/2010/main" val="28038837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0FF29-114D-B74D-CB03-3080E44F084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1.) Laia Tremosa (2023). "Beyond AR vs. VR: What is the Difference between AR vs. MR vs. VR vs. XR?," Interaction Design Foundation.</a:t>
            </a:r>
          </a:p>
        </p:txBody>
      </p:sp>
    </p:spTree>
    <p:extLst>
      <p:ext uri="{BB962C8B-B14F-4D97-AF65-F5344CB8AC3E}">
        <p14:creationId xmlns:p14="http://schemas.microsoft.com/office/powerpoint/2010/main" val="6359193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0546C-9693-87F9-37BE-E1ED3492398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1.) Laia Tremosa (2023). "Beyond AR vs. VR: What is the Difference between AR vs. MR vs. VR vs. XR?," Interaction Design Foundation.</a:t>
            </a:r>
          </a:p>
        </p:txBody>
      </p:sp>
    </p:spTree>
    <p:extLst>
      <p:ext uri="{BB962C8B-B14F-4D97-AF65-F5344CB8AC3E}">
        <p14:creationId xmlns:p14="http://schemas.microsoft.com/office/powerpoint/2010/main" val="635605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0546C-9693-87F9-37BE-E1ED3492398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1.) Laia Tremosa (2023). "Beyond AR vs. VR: What is the Difference between AR vs. MR vs. VR vs. XR?," Interaction Design Foundation.</a:t>
            </a:r>
          </a:p>
        </p:txBody>
      </p:sp>
    </p:spTree>
    <p:extLst>
      <p:ext uri="{BB962C8B-B14F-4D97-AF65-F5344CB8AC3E}">
        <p14:creationId xmlns:p14="http://schemas.microsoft.com/office/powerpoint/2010/main" val="10859095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baseline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B537A-D237-1BEC-E8C8-59C7A4917D8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1.) Laia Tremosa (2023). "Beyond AR vs. VR: What is the Difference between AR vs. MR vs. VR vs. XR?," Interaction Design Foundation.</a:t>
            </a:r>
          </a:p>
        </p:txBody>
      </p:sp>
    </p:spTree>
    <p:extLst>
      <p:ext uri="{BB962C8B-B14F-4D97-AF65-F5344CB8AC3E}">
        <p14:creationId xmlns:p14="http://schemas.microsoft.com/office/powerpoint/2010/main" val="5034786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1.) Laia Tremosa (2023). "Beyond AR vs. VR: What is the Difference between AR vs. MR vs. VR vs. XR?," Interaction Design Foundation.</a:t>
            </a:r>
          </a:p>
        </p:txBody>
      </p:sp>
    </p:spTree>
    <p:extLst>
      <p:ext uri="{BB962C8B-B14F-4D97-AF65-F5344CB8AC3E}">
        <p14:creationId xmlns:p14="http://schemas.microsoft.com/office/powerpoint/2010/main" val="3860985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baseline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CFE06-2CF2-D9CE-3196-CF717E5574B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1.) Laia Tremosa (2023). "Beyond AR vs. VR: What is the Difference between AR vs. MR vs. VR vs. XR?," Interaction Design Foundation.</a:t>
            </a:r>
          </a:p>
        </p:txBody>
      </p:sp>
    </p:spTree>
    <p:extLst>
      <p:ext uri="{BB962C8B-B14F-4D97-AF65-F5344CB8AC3E}">
        <p14:creationId xmlns:p14="http://schemas.microsoft.com/office/powerpoint/2010/main" val="32175953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baseline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CFE06-2CF2-D9CE-3196-CF717E5574B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1.) Laia Tremosa (2023). "Beyond AR vs. VR: What is the Difference between AR vs. MR vs. VR vs. XR?," Interaction Design Foundation.</a:t>
            </a:r>
          </a:p>
        </p:txBody>
      </p:sp>
    </p:spTree>
    <p:extLst>
      <p:ext uri="{BB962C8B-B14F-4D97-AF65-F5344CB8AC3E}">
        <p14:creationId xmlns:p14="http://schemas.microsoft.com/office/powerpoint/2010/main" val="35180629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baseline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79A7E-C2A7-DB9D-D9F3-577800310BD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1.) Laia Tremosa (2023). "Beyond AR vs. VR: What is the Difference between AR vs. MR vs. VR vs. XR?," Interaction Design Foundation.</a:t>
            </a:r>
          </a:p>
        </p:txBody>
      </p:sp>
    </p:spTree>
    <p:extLst>
      <p:ext uri="{BB962C8B-B14F-4D97-AF65-F5344CB8AC3E}">
        <p14:creationId xmlns:p14="http://schemas.microsoft.com/office/powerpoint/2010/main" val="14642919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baseline="0" dirty="0"/>
              <a:t>O’Reilly contains many e-book titles covering topics and software that will help you learn more about DataViz.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D4B6B-6955-5BCA-1927-FEF10F6DEAA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1.) Laia Tremosa (2023). "Beyond AR vs. VR: What is the Difference between AR vs. MR vs. VR vs. XR?," Interaction Design Foundation.</a:t>
            </a:r>
          </a:p>
        </p:txBody>
      </p:sp>
    </p:spTree>
    <p:extLst>
      <p:ext uri="{BB962C8B-B14F-4D97-AF65-F5344CB8AC3E}">
        <p14:creationId xmlns:p14="http://schemas.microsoft.com/office/powerpoint/2010/main" val="42208434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baseline="0" dirty="0"/>
              <a:t>O’Reilly contains many e-book titles covering topics and software that will help you learn more about DataViz.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D4B6B-6955-5BCA-1927-FEF10F6DEAA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1.) Laia Tremosa (2023). "Beyond AR vs. VR: What is the Difference between AR vs. MR vs. VR vs. XR?," Interaction Design Foundation.</a:t>
            </a:r>
          </a:p>
        </p:txBody>
      </p:sp>
    </p:spTree>
    <p:extLst>
      <p:ext uri="{BB962C8B-B14F-4D97-AF65-F5344CB8AC3E}">
        <p14:creationId xmlns:p14="http://schemas.microsoft.com/office/powerpoint/2010/main" val="35257850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baseline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4678C-0718-F75D-C724-2A98E4F5590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1.) Laia Tremosa (2023). "Beyond AR vs. VR: What is the Difference between AR vs. MR vs. VR vs. XR?," Interaction Design Foundation.</a:t>
            </a:r>
          </a:p>
        </p:txBody>
      </p:sp>
    </p:spTree>
    <p:extLst>
      <p:ext uri="{BB962C8B-B14F-4D97-AF65-F5344CB8AC3E}">
        <p14:creationId xmlns:p14="http://schemas.microsoft.com/office/powerpoint/2010/main" val="2221916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baseline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4678C-0718-F75D-C724-2A98E4F5590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1.) Laia Tremosa (2023). "Beyond AR vs. VR: What is the Difference between AR vs. MR vs. VR vs. XR?," Interaction Design Foundation.</a:t>
            </a:r>
          </a:p>
        </p:txBody>
      </p:sp>
    </p:spTree>
    <p:extLst>
      <p:ext uri="{BB962C8B-B14F-4D97-AF65-F5344CB8AC3E}">
        <p14:creationId xmlns:p14="http://schemas.microsoft.com/office/powerpoint/2010/main" val="39143985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1.) Laia Tremosa (2023). "Beyond AR vs. VR: What is the Difference between AR vs. MR vs. VR vs. XR?," Interaction Design Foundation.</a:t>
            </a:r>
          </a:p>
        </p:txBody>
      </p:sp>
    </p:spTree>
    <p:extLst>
      <p:ext uri="{BB962C8B-B14F-4D97-AF65-F5344CB8AC3E}">
        <p14:creationId xmlns:p14="http://schemas.microsoft.com/office/powerpoint/2010/main" val="32608134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1.) Laia Tremosa (2023). "Beyond AR vs. VR: What is the Difference between AR vs. MR vs. VR vs. XR?," Interaction Design Foundation.</a:t>
            </a:r>
          </a:p>
        </p:txBody>
      </p:sp>
    </p:spTree>
    <p:extLst>
      <p:ext uri="{BB962C8B-B14F-4D97-AF65-F5344CB8AC3E}">
        <p14:creationId xmlns:p14="http://schemas.microsoft.com/office/powerpoint/2010/main" val="41213456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If you have any questions or comments relating to this presentation or to VR/AR/XR/MR technologies at the</a:t>
            </a:r>
            <a:r>
              <a:rPr lang="en-US" baseline="0" dirty="0"/>
              <a:t> TTU Libraries, please feel free to contact me at jake.syma@ttu.edu or at make@ttu.edu.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C38D7-D88C-586C-2774-10429E83F17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1.) Laia Tremosa (2023). "Beyond AR vs. VR: What is the Difference between AR vs. MR vs. VR vs. XR?," Interaction Design Foundation.</a:t>
            </a:r>
          </a:p>
        </p:txBody>
      </p:sp>
    </p:spTree>
    <p:extLst>
      <p:ext uri="{BB962C8B-B14F-4D97-AF65-F5344CB8AC3E}">
        <p14:creationId xmlns:p14="http://schemas.microsoft.com/office/powerpoint/2010/main" val="3014147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D7B2-E6BA-4C39-AF7E-E6EF93AE080C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CAF7EB-B126-42EA-8C6D-0952E40733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D7B2-E6BA-4C39-AF7E-E6EF93AE080C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F7EB-B126-42EA-8C6D-0952E40733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D7B2-E6BA-4C39-AF7E-E6EF93AE080C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ECAF7EB-B126-42EA-8C6D-0952E40733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D7B2-E6BA-4C39-AF7E-E6EF93AE080C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F7EB-B126-42EA-8C6D-0952E40733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D7B2-E6BA-4C39-AF7E-E6EF93AE080C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F7EB-B126-42EA-8C6D-0952E40733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D7B2-E6BA-4C39-AF7E-E6EF93AE080C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F7EB-B126-42EA-8C6D-0952E40733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D7B2-E6BA-4C39-AF7E-E6EF93AE080C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F7EB-B126-42EA-8C6D-0952E40733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D7B2-E6BA-4C39-AF7E-E6EF93AE080C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F7EB-B126-42EA-8C6D-0952E40733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D7B2-E6BA-4C39-AF7E-E6EF93AE080C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CAF7EB-B126-42EA-8C6D-0952E40733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D7B2-E6BA-4C39-AF7E-E6EF93AE080C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F7EB-B126-42EA-8C6D-0952E40733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D7B2-E6BA-4C39-AF7E-E6EF93AE080C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F7EB-B126-42EA-8C6D-0952E40733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D5CED7B2-E6BA-4C39-AF7E-E6EF93AE080C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8ECAF7EB-B126-42EA-8C6D-0952E40733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b="0" i="0" u="none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uides.library.ttu.edu/IntroToDataViz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uides.library.ttu.edu/Make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make@ttu.edu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pts.ttu.edu/library/research-support/researchHub/index.php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uides.library.ttu.edu/" TargetMode="External"/><Relationship Id="rId4" Type="http://schemas.openxmlformats.org/officeDocument/2006/relationships/hyperlink" Target="mailto:libraries.reference@ttu.edu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pts.ttu.edu/library/make/index.php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make@ttu.edu" TargetMode="External"/><Relationship Id="rId5" Type="http://schemas.openxmlformats.org/officeDocument/2006/relationships/hyperlink" Target="https://www.depts.ttu.edu/library/vrlab/index.php" TargetMode="External"/><Relationship Id="rId4" Type="http://schemas.openxmlformats.org/officeDocument/2006/relationships/hyperlink" Target="https://www.depts.ttu.edu/library/3d-animation-lab/index.php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resources.nvidia.com/en-us-briefcase-for-datasheets/nvidia-rtx-a5000-dat-1" TargetMode="External"/><Relationship Id="rId3" Type="http://schemas.openxmlformats.org/officeDocument/2006/relationships/hyperlink" Target="https://www.intel.com/content/www/us/en/products/sku/241068/intel-core-ultra-7-processor-265-30m-cache-up-to-5-30-ghz/specifications.html" TargetMode="External"/><Relationship Id="rId7" Type="http://schemas.openxmlformats.org/officeDocument/2006/relationships/hyperlink" Target="https://www.nvidia.com/en-us/design-visualization/rtx-a5000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pubenchmark.net/cpu.php?cpu=Intel+Xeon+W-2245+%40+3.90GHz&amp;id=3691" TargetMode="External"/><Relationship Id="rId5" Type="http://schemas.openxmlformats.org/officeDocument/2006/relationships/hyperlink" Target="https://www.intel.com/content/www/us/en/products/sku/198609/intel-xeon-w2245-processor-16-5m-cache-3-90-ghz/specifications.html" TargetMode="External"/><Relationship Id="rId4" Type="http://schemas.openxmlformats.org/officeDocument/2006/relationships/hyperlink" Target="https://www.nvidia.com/en-us/products/workstations/rtx-2000/" TargetMode="External"/><Relationship Id="rId9" Type="http://schemas.openxmlformats.org/officeDocument/2006/relationships/hyperlink" Target="https://www.techpowerup.com/gpu-specs/rtx-a5000.c3748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topics/exploratory-data-analysi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tl.nist.gov/div898/handbook/eda/section1/eda11.htm" TargetMode="External"/><Relationship Id="rId4" Type="http://schemas.openxmlformats.org/officeDocument/2006/relationships/hyperlink" Target="https://r4ds.had.co.nz/exploratory-data-analysis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itpress.mit.edu/9780262043823/the-infographic/" TargetMode="External"/><Relationship Id="rId2" Type="http://schemas.openxmlformats.org/officeDocument/2006/relationships/hyperlink" Target="https://x.com/DataRevelations/status/1763587528009949215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datarevelations.com/" TargetMode="External"/><Relationship Id="rId4" Type="http://schemas.openxmlformats.org/officeDocument/2006/relationships/hyperlink" Target="https://creative.umich.edu/resources/harnessing-the-power-of-visual-storytelling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icrosoft.com/en-us/power-platform/products/power-bi/desktop" TargetMode="External"/><Relationship Id="rId3" Type="http://schemas.openxmlformats.org/officeDocument/2006/relationships/hyperlink" Target="https://www.depts.ttu.edu/itts/software/sas.php" TargetMode="External"/><Relationship Id="rId7" Type="http://schemas.openxmlformats.org/officeDocument/2006/relationships/hyperlink" Target="https://www.depts.ttu.edu/itts/software/ms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ableau.com/en-gb/products/public" TargetMode="External"/><Relationship Id="rId11" Type="http://schemas.openxmlformats.org/officeDocument/2006/relationships/hyperlink" Target="https://www.depts.ttu.edu/itts/software/" TargetMode="External"/><Relationship Id="rId5" Type="http://schemas.openxmlformats.org/officeDocument/2006/relationships/hyperlink" Target="https://www.depts.ttu.edu/itts/software/spss.php" TargetMode="External"/><Relationship Id="rId10" Type="http://schemas.openxmlformats.org/officeDocument/2006/relationships/hyperlink" Target="https://www.depts.ttu.edu/itts/software/matlab/index.php" TargetMode="External"/><Relationship Id="rId4" Type="http://schemas.openxmlformats.org/officeDocument/2006/relationships/hyperlink" Target="https://www.depts.ttu.edu/itts/software/jmp.php" TargetMode="External"/><Relationship Id="rId9" Type="http://schemas.openxmlformats.org/officeDocument/2006/relationships/hyperlink" Target="https://www.mathworks.com/academia/tah-portal/texas-tech-university-714225.html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matplotlib.org/" TargetMode="External"/><Relationship Id="rId13" Type="http://schemas.openxmlformats.org/officeDocument/2006/relationships/hyperlink" Target="https://about.gitlab.com/blog/2019/09/30/why-we-chose-echarts/" TargetMode="External"/><Relationship Id="rId3" Type="http://schemas.openxmlformats.org/officeDocument/2006/relationships/hyperlink" Target="https://www.r-project.org/" TargetMode="External"/><Relationship Id="rId7" Type="http://schemas.openxmlformats.org/officeDocument/2006/relationships/hyperlink" Target="https://www.python.org/" TargetMode="External"/><Relationship Id="rId12" Type="http://schemas.openxmlformats.org/officeDocument/2006/relationships/hyperlink" Target="https://echartsjs.com/index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studio-education.github.io/hopr/starting.html" TargetMode="External"/><Relationship Id="rId11" Type="http://schemas.openxmlformats.org/officeDocument/2006/relationships/hyperlink" Target="https://echarts.apache.org/en/index.html" TargetMode="External"/><Relationship Id="rId5" Type="http://schemas.openxmlformats.org/officeDocument/2006/relationships/hyperlink" Target="https://ggplot2.tidyverse.org/" TargetMode="External"/><Relationship Id="rId15" Type="http://schemas.openxmlformats.org/officeDocument/2006/relationships/hyperlink" Target="https://deck.gl/" TargetMode="External"/><Relationship Id="rId10" Type="http://schemas.openxmlformats.org/officeDocument/2006/relationships/hyperlink" Target="https://d3js.org/" TargetMode="External"/><Relationship Id="rId4" Type="http://schemas.openxmlformats.org/officeDocument/2006/relationships/hyperlink" Target="https://posit.co/products/open-source/rstudio/" TargetMode="External"/><Relationship Id="rId9" Type="http://schemas.openxmlformats.org/officeDocument/2006/relationships/hyperlink" Target="https://plotly.com/" TargetMode="External"/><Relationship Id="rId14" Type="http://schemas.openxmlformats.org/officeDocument/2006/relationships/hyperlink" Target="https://vega.github.io/vega/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guides.library.ttu.edu/makewithmatlab" TargetMode="External"/><Relationship Id="rId3" Type="http://schemas.openxmlformats.org/officeDocument/2006/relationships/hyperlink" Target="https://guides.library.ttu.edu/chenry" TargetMode="External"/><Relationship Id="rId7" Type="http://schemas.openxmlformats.org/officeDocument/2006/relationships/hyperlink" Target="https://guides.library.ttu.edu/prf.php?id=5adb4a2e-7cdb-11ed-9922-0ad758b798c3" TargetMode="External"/><Relationship Id="rId12" Type="http://schemas.openxmlformats.org/officeDocument/2006/relationships/hyperlink" Target="https://www.depts.ttu.edu/itts/training/shortcourses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uides.library.ttu.edu/R4Beginners" TargetMode="External"/><Relationship Id="rId11" Type="http://schemas.openxmlformats.org/officeDocument/2006/relationships/hyperlink" Target="https://www.depts.ttu.edu/itts/hours/" TargetMode="External"/><Relationship Id="rId5" Type="http://schemas.openxmlformats.org/officeDocument/2006/relationships/hyperlink" Target="https://guides.library.ttu.edu/tableau" TargetMode="External"/><Relationship Id="rId10" Type="http://schemas.openxmlformats.org/officeDocument/2006/relationships/hyperlink" Target="https://www.depts.ttu.edu/itts/labs/atlc/software/" TargetMode="External"/><Relationship Id="rId4" Type="http://schemas.openxmlformats.org/officeDocument/2006/relationships/hyperlink" Target="https://guides.library.ttu.edu/prf.php?id=5a0c69e1-7cdb-11ed-9922-0ad758b798c3" TargetMode="External"/><Relationship Id="rId9" Type="http://schemas.openxmlformats.org/officeDocument/2006/relationships/hyperlink" Target="https://techannounce.ttu.edu/Client/ViewMessage.aspx?MsgId=282920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library.ttu.edu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ing.oreilly.com/library/view/data-visualization-with/9781098111861/" TargetMode="External"/><Relationship Id="rId3" Type="http://schemas.openxmlformats.org/officeDocument/2006/relationships/hyperlink" Target="https://learning.oreilly.com/library/view/fundamentals-of-data/9781492031079/" TargetMode="External"/><Relationship Id="rId7" Type="http://schemas.openxmlformats.org/officeDocument/2006/relationships/hyperlink" Target="https://learning.oreilly.com/library/view/storytelling-with-data/9781119002253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ing.oreilly.com/library/view/big-data-visualization/9781785281945/" TargetMode="External"/><Relationship Id="rId5" Type="http://schemas.openxmlformats.org/officeDocument/2006/relationships/hyperlink" Target="https://learning.oreilly.com/videos/effective-data-visualization/9781491917015/" TargetMode="External"/><Relationship Id="rId4" Type="http://schemas.openxmlformats.org/officeDocument/2006/relationships/hyperlink" Target="https://learning.oreilly.com/library/view/hands-on-data-visualization/9781492085997/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ttu.udemy.com/course/mastering-the-art-of-data-visualization-2020/" TargetMode="External"/><Relationship Id="rId3" Type="http://schemas.openxmlformats.org/officeDocument/2006/relationships/hyperlink" Target="https://ttu.udemy.com/" TargetMode="External"/><Relationship Id="rId7" Type="http://schemas.openxmlformats.org/officeDocument/2006/relationships/hyperlink" Target="https://ttu.udemy.com/course/tell-a-story-with-data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tu.udemy.com/course/mastering-data-visualization/" TargetMode="External"/><Relationship Id="rId11" Type="http://schemas.openxmlformats.org/officeDocument/2006/relationships/hyperlink" Target="https://ttu.udemy.com/course/learning-python-for-data-analysis-and-visualization/" TargetMode="External"/><Relationship Id="rId5" Type="http://schemas.openxmlformats.org/officeDocument/2006/relationships/hyperlink" Target="https://www.depts.ttu.edu/itts/software/cbt.php" TargetMode="External"/><Relationship Id="rId10" Type="http://schemas.openxmlformats.org/officeDocument/2006/relationships/hyperlink" Target="https://ttu.udemy.com/course/masteringd3js/" TargetMode="External"/><Relationship Id="rId4" Type="http://schemas.openxmlformats.org/officeDocument/2006/relationships/hyperlink" Target="https://www.depts.ttu.edu/itts/training/online/" TargetMode="External"/><Relationship Id="rId9" Type="http://schemas.openxmlformats.org/officeDocument/2006/relationships/hyperlink" Target="https://ttu.udemy.com/course/advanced-excel-charts-graphs/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oursera.org/search?query=data%20visualization" TargetMode="External"/><Relationship Id="rId3" Type="http://schemas.openxmlformats.org/officeDocument/2006/relationships/hyperlink" Target="https://www.depts.ttu.edu/online/careercertificates/" TargetMode="External"/><Relationship Id="rId7" Type="http://schemas.openxmlformats.org/officeDocument/2006/relationships/hyperlink" Target="https://www.coursera.org/professional-certificates/meta-data-analyst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oursera.org/learn/visualize-data" TargetMode="External"/><Relationship Id="rId11" Type="http://schemas.openxmlformats.org/officeDocument/2006/relationships/hyperlink" Target="https://www.coursera.org/specializations/jhu-data-visualization-dashboarding-with-r" TargetMode="External"/><Relationship Id="rId5" Type="http://schemas.openxmlformats.org/officeDocument/2006/relationships/hyperlink" Target="https://www.coursera.org/professional-certificates/google-data-analytics" TargetMode="External"/><Relationship Id="rId10" Type="http://schemas.openxmlformats.org/officeDocument/2006/relationships/hyperlink" Target="https://www.coursera.org/learn/python-for-data-visualization" TargetMode="External"/><Relationship Id="rId4" Type="http://schemas.openxmlformats.org/officeDocument/2006/relationships/hyperlink" Target="https://techannounce.ttu.edu/Client/ViewMessage.aspx?MsgId=282614" TargetMode="External"/><Relationship Id="rId9" Type="http://schemas.openxmlformats.org/officeDocument/2006/relationships/hyperlink" Target="https://www.coursera.org/learn/excel-data-visualization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torytellingwithdata.com/" TargetMode="External"/><Relationship Id="rId13" Type="http://schemas.openxmlformats.org/officeDocument/2006/relationships/hyperlink" Target="https://www.kdnuggets.com/2023/01/google-data-analytics-certification-review-2023.html" TargetMode="External"/><Relationship Id="rId18" Type="http://schemas.openxmlformats.org/officeDocument/2006/relationships/hyperlink" Target="https://grow.google/intl/uk/" TargetMode="External"/><Relationship Id="rId3" Type="http://schemas.openxmlformats.org/officeDocument/2006/relationships/hyperlink" Target="https://ttu-primo.hosted.exlibrisgroup.com/permalink/f/1nr4jhr/01TTU_ALMA21131743110002611" TargetMode="External"/><Relationship Id="rId21" Type="http://schemas.openxmlformats.org/officeDocument/2006/relationships/hyperlink" Target="https://rsvp.withgoogle.com/events/gdg-telling-stories-with-data-visualisation" TargetMode="External"/><Relationship Id="rId7" Type="http://schemas.openxmlformats.org/officeDocument/2006/relationships/hyperlink" Target="https://www.facebook.com/groups/terribledata/permalink/1426357517969486/" TargetMode="External"/><Relationship Id="rId12" Type="http://schemas.openxmlformats.org/officeDocument/2006/relationships/hyperlink" Target="https://www.coursera.org/professional-certificates/google-data-analytics" TargetMode="External"/><Relationship Id="rId17" Type="http://schemas.openxmlformats.org/officeDocument/2006/relationships/hyperlink" Target="https://www.reddit.com/r/dataanalysis/comments/102lr95/is_google_data_analytics_certificate_worth_it/" TargetMode="External"/><Relationship Id="rId2" Type="http://schemas.openxmlformats.org/officeDocument/2006/relationships/notesSlide" Target="../notesSlides/notesSlide14.xml"/><Relationship Id="rId16" Type="http://schemas.openxmlformats.org/officeDocument/2006/relationships/hyperlink" Target="https://www.reddit.com/r/learnprogramming/comments/m6sel6/is_the_google_data_analytics_professional/" TargetMode="External"/><Relationship Id="rId20" Type="http://schemas.openxmlformats.org/officeDocument/2006/relationships/hyperlink" Target="https://grow.google/intl/uk/courses-and-tools/?category=career&amp;topic=data-analytic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eddit.com/r/dataisbeautiful/" TargetMode="External"/><Relationship Id="rId11" Type="http://schemas.openxmlformats.org/officeDocument/2006/relationships/hyperlink" Target="https://grow.google/certificates/data-analytics/" TargetMode="External"/><Relationship Id="rId24" Type="http://schemas.openxmlformats.org/officeDocument/2006/relationships/hyperlink" Target="https://www.loc.gov/aba/publications/FreeLCSH/freelcsh.html" TargetMode="External"/><Relationship Id="rId5" Type="http://schemas.openxmlformats.org/officeDocument/2006/relationships/hyperlink" Target="https://dataplatform.cloud.ibm.com/docs/content/wsj/refinery/visualizations.html" TargetMode="External"/><Relationship Id="rId15" Type="http://schemas.openxmlformats.org/officeDocument/2006/relationships/hyperlink" Target="https://careerkarma.com/question/how-much-does-the-google-13f77555b/" TargetMode="External"/><Relationship Id="rId23" Type="http://schemas.openxmlformats.org/officeDocument/2006/relationships/hyperlink" Target="https://rsvp.withgoogle.com/events/gdg-find-insights-with-analytics" TargetMode="External"/><Relationship Id="rId10" Type="http://schemas.openxmlformats.org/officeDocument/2006/relationships/hyperlink" Target="https://grow.google/" TargetMode="External"/><Relationship Id="rId19" Type="http://schemas.openxmlformats.org/officeDocument/2006/relationships/hyperlink" Target="https://skillshop.exceedlms.com/student/catalog/list?category_ids=7879-google-digital-garage" TargetMode="External"/><Relationship Id="rId4" Type="http://schemas.openxmlformats.org/officeDocument/2006/relationships/hyperlink" Target="https://www.ibm.com/topics/data-visualization" TargetMode="External"/><Relationship Id="rId9" Type="http://schemas.openxmlformats.org/officeDocument/2006/relationships/hyperlink" Target="https://svs.gsfc.nasa.gov/" TargetMode="External"/><Relationship Id="rId14" Type="http://schemas.openxmlformats.org/officeDocument/2006/relationships/hyperlink" Target="https://www.splunk.com/en_us/blog/learn/data-science-analytics-certifications.html" TargetMode="External"/><Relationship Id="rId22" Type="http://schemas.openxmlformats.org/officeDocument/2006/relationships/hyperlink" Target="https://rsvp.withgoogle.com/events/gdg-decision-making-with-data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8EMW7io4rSI" TargetMode="External"/><Relationship Id="rId13" Type="http://schemas.openxmlformats.org/officeDocument/2006/relationships/hyperlink" Target="https://www.effectivedatastorytelling.com/" TargetMode="External"/><Relationship Id="rId3" Type="http://schemas.openxmlformats.org/officeDocument/2006/relationships/hyperlink" Target="https://www.edwardtufte.com/" TargetMode="External"/><Relationship Id="rId7" Type="http://schemas.openxmlformats.org/officeDocument/2006/relationships/hyperlink" Target="https://www.storytellingwithdata.com/" TargetMode="External"/><Relationship Id="rId12" Type="http://schemas.openxmlformats.org/officeDocument/2006/relationships/hyperlink" Target="https://x.com/analyticshero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x.com/storywithdata" TargetMode="External"/><Relationship Id="rId11" Type="http://schemas.openxmlformats.org/officeDocument/2006/relationships/hyperlink" Target="https://bigbookofdashboards.com/" TargetMode="External"/><Relationship Id="rId5" Type="http://schemas.openxmlformats.org/officeDocument/2006/relationships/hyperlink" Target="https://www.datarevelations.com/" TargetMode="External"/><Relationship Id="rId10" Type="http://schemas.openxmlformats.org/officeDocument/2006/relationships/hyperlink" Target="https://dataplusscience.com/" TargetMode="External"/><Relationship Id="rId4" Type="http://schemas.openxmlformats.org/officeDocument/2006/relationships/hyperlink" Target="https://x.com/DataRevelations" TargetMode="External"/><Relationship Id="rId9" Type="http://schemas.openxmlformats.org/officeDocument/2006/relationships/hyperlink" Target="https://x.com/DataPlusScience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jake.syma@ttu.edu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tu.libwizard.com/f/workshop-eval-24-25_emerging_tech" TargetMode="External"/><Relationship Id="rId4" Type="http://schemas.openxmlformats.org/officeDocument/2006/relationships/hyperlink" Target="mailto:cynthia.henry@ttu.edu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ttu-primo.hosted.exlibrisgroup.com/permalink/f/19r5ufk/01TTU_ALMA6132110366000261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0"/>
            <a:ext cx="7848600" cy="4800599"/>
          </a:xfrm>
        </p:spPr>
        <p:txBody>
          <a:bodyPr/>
          <a:lstStyle/>
          <a:p>
            <a:r>
              <a:rPr lang="en-US" sz="7200" dirty="0">
                <a:latin typeface="Calibri" panose="020F0502020204030204" pitchFamily="34" charset="0"/>
              </a:rPr>
              <a:t>intro to Data Visualization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886200"/>
            <a:ext cx="7315200" cy="1371600"/>
          </a:xfrm>
        </p:spPr>
        <p:txBody>
          <a:bodyPr>
            <a:normAutofit/>
          </a:bodyPr>
          <a:lstStyle/>
          <a:p>
            <a:r>
              <a:rPr lang="en-US" dirty="0"/>
              <a:t>A Brief introduction to ‘Data Viz’ and the Data Visualization resources of the Texas Tech University Libraries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49C9FA-FE9F-3252-D69B-C2B347EEAF5B}"/>
              </a:ext>
            </a:extLst>
          </p:cNvPr>
          <p:cNvSpPr txBox="1"/>
          <p:nvPr/>
        </p:nvSpPr>
        <p:spPr>
          <a:xfrm>
            <a:off x="533400" y="5867400"/>
            <a:ext cx="358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Webpage (</a:t>
            </a:r>
            <a:r>
              <a:rPr lang="en-US" sz="1400" dirty="0" err="1"/>
              <a:t>LibGuide</a:t>
            </a:r>
            <a:r>
              <a:rPr lang="en-US" sz="1400" dirty="0"/>
              <a:t>) for this workshop:</a:t>
            </a:r>
            <a:br>
              <a:rPr lang="en-US" sz="1400" dirty="0"/>
            </a:br>
            <a:r>
              <a:rPr lang="en-US" sz="1400" dirty="0">
                <a:hlinkClick r:id="rId3"/>
              </a:rPr>
              <a:t>https://guides.library.ttu.edu/IntroToDataViz</a:t>
            </a:r>
            <a:r>
              <a:rPr lang="en-US" sz="14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CB7D26-B714-00A5-8571-26F00665F14C}"/>
              </a:ext>
            </a:extLst>
          </p:cNvPr>
          <p:cNvSpPr txBox="1"/>
          <p:nvPr/>
        </p:nvSpPr>
        <p:spPr>
          <a:xfrm>
            <a:off x="4343400" y="586740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All Emerging Technology </a:t>
            </a:r>
            <a:r>
              <a:rPr lang="en-US" sz="1400" dirty="0" err="1"/>
              <a:t>LibGuides</a:t>
            </a:r>
            <a:r>
              <a:rPr lang="en-US" sz="1400" dirty="0"/>
              <a:t>:</a:t>
            </a:r>
            <a:br>
              <a:rPr lang="en-US" sz="1400" dirty="0"/>
            </a:br>
            <a:r>
              <a:rPr lang="en-US" sz="1400" dirty="0">
                <a:hlinkClick r:id="rId4"/>
              </a:rPr>
              <a:t>https://guides.library.ttu.edu/Make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65578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010400" cy="1066482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077200" cy="48768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b="0" dirty="0"/>
              <a:t>Introducing your Personal Librarians in ‘RIO’ (the ‘Research, Instruction, &amp; Outreach’ dept)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b="0" dirty="0"/>
              <a:t>Introducing the Library Makerspace &amp; Emerging Technologies Area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b="0" dirty="0"/>
              <a:t>Intro to Data Visualization (aka ‘DataViz’)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b="0" dirty="0"/>
              <a:t>Intro to Data Visualization Software</a:t>
            </a:r>
            <a:endParaRPr lang="en-US" b="0" dirty="0">
              <a:cs typeface="Arial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b="0" dirty="0"/>
              <a:t>Data Visualization Resources Available</a:t>
            </a:r>
          </a:p>
          <a:p>
            <a:pPr marL="342900" indent="-342900">
              <a:spcAft>
                <a:spcPts val="0"/>
              </a:spcAft>
              <a:buFont typeface="Arial" pitchFamily="34" charset="0"/>
              <a:buChar char="•"/>
            </a:pPr>
            <a:r>
              <a:rPr lang="en-US" b="0" dirty="0"/>
              <a:t>Tour of aforementioned areas for in-person attendees</a:t>
            </a:r>
          </a:p>
          <a:p>
            <a:pPr marL="800100" lvl="1" indent="-342900"/>
            <a:r>
              <a:rPr lang="en-US" dirty="0"/>
              <a:t>All attendees can email one of us (or </a:t>
            </a:r>
            <a:r>
              <a:rPr lang="en-US" dirty="0">
                <a:hlinkClick r:id="rId3"/>
              </a:rPr>
              <a:t>make@ttu.edu</a:t>
            </a:r>
            <a:r>
              <a:rPr lang="en-US" dirty="0"/>
              <a:t>) to try to set up a tour for a different date/time</a:t>
            </a:r>
            <a:endParaRPr lang="en-US" b="0" dirty="0"/>
          </a:p>
          <a:p>
            <a:pPr marL="342900" indent="-342900">
              <a:spcAft>
                <a:spcPts val="0"/>
              </a:spcAft>
              <a:buFont typeface="Arial" pitchFamily="34" charset="0"/>
              <a:buChar char="•"/>
            </a:pPr>
            <a:r>
              <a:rPr lang="en-US" b="0" dirty="0"/>
              <a:t>Q&amp;A</a:t>
            </a:r>
          </a:p>
          <a:p>
            <a:pPr marL="800100" lvl="1" indent="-342900"/>
            <a:r>
              <a:rPr lang="en-US" b="0" dirty="0"/>
              <a:t>Yes, you </a:t>
            </a:r>
            <a:r>
              <a:rPr lang="en-US" u="sng" dirty="0"/>
              <a:t>will</a:t>
            </a:r>
            <a:r>
              <a:rPr lang="en-US" b="0" dirty="0"/>
              <a:t> get a copy of the slides (should already have one)</a:t>
            </a:r>
          </a:p>
        </p:txBody>
      </p:sp>
    </p:spTree>
    <p:extLst>
      <p:ext uri="{BB962C8B-B14F-4D97-AF65-F5344CB8AC3E}">
        <p14:creationId xmlns:p14="http://schemas.microsoft.com/office/powerpoint/2010/main" val="401242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5882"/>
            <a:ext cx="7620000" cy="1531518"/>
          </a:xfrm>
        </p:spPr>
        <p:txBody>
          <a:bodyPr>
            <a:normAutofit fontScale="90000"/>
          </a:bodyPr>
          <a:lstStyle/>
          <a:p>
            <a:r>
              <a:rPr lang="en-US" dirty="0"/>
              <a:t>Research, Instruction, &amp; Outreach (RIO) and Your personal/subject Librarians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9800"/>
            <a:ext cx="7772400" cy="4038600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b="0" dirty="0"/>
              <a:t>Library, West side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b="0" dirty="0"/>
              <a:t>The two main components of the RIO area:</a:t>
            </a:r>
          </a:p>
          <a:p>
            <a:pPr marL="800100" lvl="1" indent="-342900"/>
            <a:r>
              <a:rPr lang="en-US" dirty="0"/>
              <a:t>Rm.132: </a:t>
            </a:r>
            <a:r>
              <a:rPr lang="en-US" dirty="0">
                <a:hlinkClick r:id="rId3"/>
              </a:rPr>
              <a:t>Research Hub</a:t>
            </a:r>
            <a:r>
              <a:rPr lang="en-US" dirty="0"/>
              <a:t> (RIO’s departmental office, and a ‘shared space’ for students/librarian collaboration, as well as just studying)</a:t>
            </a:r>
          </a:p>
          <a:p>
            <a:pPr marL="1485900" lvl="2" indent="-342900"/>
            <a:r>
              <a:rPr lang="en-US" b="0" dirty="0"/>
              <a:t>The Research Hub is open most hours the Library is open</a:t>
            </a:r>
            <a:endParaRPr lang="en-US" dirty="0"/>
          </a:p>
          <a:p>
            <a:pPr marL="800100" lvl="1" indent="-342900"/>
            <a:r>
              <a:rPr lang="en-US" dirty="0"/>
              <a:t>Mezzanine (</a:t>
            </a:r>
            <a:r>
              <a:rPr lang="en-US" b="0" dirty="0"/>
              <a:t>middle/balcony level</a:t>
            </a:r>
            <a:r>
              <a:rPr lang="en-US" dirty="0"/>
              <a:t>)</a:t>
            </a:r>
          </a:p>
          <a:p>
            <a:pPr marL="1485900" lvl="2" indent="-342900"/>
            <a:r>
              <a:rPr lang="en-US" dirty="0"/>
              <a:t>Personal/subject librarians’ offices can be found here</a:t>
            </a:r>
          </a:p>
          <a:p>
            <a:pPr marL="1485900" lvl="2" indent="-342900"/>
            <a:r>
              <a:rPr lang="en-US" dirty="0"/>
              <a:t>M116: Cynthia Henry’s office</a:t>
            </a:r>
            <a:endParaRPr lang="en-US" b="0" dirty="0"/>
          </a:p>
          <a:p>
            <a:pPr marL="342900" indent="-342900">
              <a:spcBef>
                <a:spcPts val="0"/>
              </a:spcBef>
              <a:buFont typeface="Arial" pitchFamily="34" charset="0"/>
              <a:buChar char="•"/>
            </a:pPr>
            <a:r>
              <a:rPr lang="en-US" b="0" dirty="0"/>
              <a:t>Email: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</a:pPr>
            <a:r>
              <a:rPr lang="en-US" b="0" dirty="0">
                <a:hlinkClick r:id="rId4"/>
              </a:rPr>
              <a:t>libraries.reference@ttu.edu</a:t>
            </a:r>
            <a:r>
              <a:rPr lang="en-US" b="0" dirty="0"/>
              <a:t> </a:t>
            </a:r>
          </a:p>
          <a:p>
            <a:pPr marL="342900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en-US" b="0" dirty="0"/>
              <a:t>Find Your Subject and/or Personal Librarian: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</a:pPr>
            <a:r>
              <a:rPr lang="en-US" b="0" dirty="0">
                <a:hlinkClick r:id="rId5"/>
              </a:rPr>
              <a:t>https://guides.library.ttu.edu/</a:t>
            </a:r>
            <a:r>
              <a:rPr lang="en-US" b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93804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620000" cy="1371600"/>
          </a:xfrm>
        </p:spPr>
        <p:txBody>
          <a:bodyPr>
            <a:normAutofit/>
          </a:bodyPr>
          <a:lstStyle/>
          <a:p>
            <a:r>
              <a:rPr lang="en-US" dirty="0"/>
              <a:t>The Emerging Technologies Area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7620000" cy="4876800"/>
          </a:xfrm>
        </p:spPr>
        <p:txBody>
          <a:bodyPr>
            <a:norm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b="0" dirty="0"/>
              <a:t>Library, second floor (East)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b="0" dirty="0"/>
              <a:t>The main components of the Emerging Technologies Area:</a:t>
            </a:r>
          </a:p>
          <a:p>
            <a:pPr marL="800100" lvl="1" indent="-342900"/>
            <a:r>
              <a:rPr lang="en-US" dirty="0"/>
              <a:t>Rm. 210: </a:t>
            </a:r>
            <a:r>
              <a:rPr lang="en-US" dirty="0">
                <a:hlinkClick r:id="rId3"/>
              </a:rPr>
              <a:t>Makerspace</a:t>
            </a:r>
            <a:r>
              <a:rPr lang="en-US" dirty="0"/>
              <a:t> (most well-known)</a:t>
            </a:r>
          </a:p>
          <a:p>
            <a:pPr marL="800100" lvl="1" indent="-342900"/>
            <a:r>
              <a:rPr lang="en-US" dirty="0"/>
              <a:t>Rm. 205A: Multipurpose Room</a:t>
            </a:r>
          </a:p>
          <a:p>
            <a:pPr marL="1485900" lvl="2" indent="-342900"/>
            <a:r>
              <a:rPr lang="en-US" dirty="0"/>
              <a:t>Primary: </a:t>
            </a:r>
            <a:r>
              <a:rPr lang="en-US" dirty="0">
                <a:hlinkClick r:id="rId4"/>
              </a:rPr>
              <a:t>3D Animation Lab</a:t>
            </a:r>
            <a:endParaRPr lang="en-US" dirty="0"/>
          </a:p>
          <a:p>
            <a:pPr marL="1485900" lvl="2" indent="-342900"/>
            <a:r>
              <a:rPr lang="en-US" dirty="0"/>
              <a:t>Secondary: Classroom and Study Area</a:t>
            </a:r>
          </a:p>
          <a:p>
            <a:pPr marL="800100" lvl="1" indent="-342900"/>
            <a:r>
              <a:rPr lang="en-US" b="0" dirty="0"/>
              <a:t>Rm. 201A: </a:t>
            </a:r>
            <a:r>
              <a:rPr lang="en-US" b="0" dirty="0">
                <a:hlinkClick r:id="rId5"/>
              </a:rPr>
              <a:t>VR Lab</a:t>
            </a:r>
            <a:endParaRPr lang="en-US" b="0" dirty="0"/>
          </a:p>
          <a:p>
            <a:pPr marL="800100" lvl="1" indent="-342900"/>
            <a:r>
              <a:rPr lang="en-US" dirty="0"/>
              <a:t>Coming Soon, to Rm. 201B: Immersion/Data Lab</a:t>
            </a:r>
            <a:endParaRPr lang="en-US" b="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b="0" dirty="0"/>
              <a:t>Open ‘most’ hours the Library is open (esp. 205A)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b="0" dirty="0">
                <a:hlinkClick r:id="rId6"/>
              </a:rPr>
              <a:t>make@ttu.edu</a:t>
            </a:r>
            <a:r>
              <a:rPr lang="en-US" b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26325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393"/>
            <a:ext cx="7620000" cy="1371600"/>
          </a:xfrm>
        </p:spPr>
        <p:txBody>
          <a:bodyPr/>
          <a:lstStyle/>
          <a:p>
            <a:r>
              <a:rPr lang="en-US" dirty="0"/>
              <a:t>Hardware in Immersion/DATA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52600"/>
            <a:ext cx="8991600" cy="4953000"/>
          </a:xfrm>
        </p:spPr>
        <p:txBody>
          <a:bodyPr>
            <a:norm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b="0" dirty="0"/>
              <a:t>2x higher-end computers</a:t>
            </a:r>
          </a:p>
          <a:p>
            <a:pPr marL="800100" lvl="1" indent="-342900"/>
            <a:r>
              <a:rPr lang="en-US" sz="1800" dirty="0"/>
              <a:t>1.) Dell Pro Max Tower T2 FCT2250</a:t>
            </a:r>
          </a:p>
          <a:p>
            <a:pPr marL="1485900" lvl="2" indent="-342900"/>
            <a:r>
              <a:rPr lang="en-US" sz="1600" dirty="0"/>
              <a:t>Intel Core Ultra 7 265 processor (w/ Intel AI Boost) [</a:t>
            </a:r>
            <a:r>
              <a:rPr lang="en-US" sz="1600" dirty="0">
                <a:hlinkClick r:id="rId3"/>
              </a:rPr>
              <a:t>Intel</a:t>
            </a:r>
            <a:r>
              <a:rPr lang="en-US" sz="1600" dirty="0"/>
              <a:t>]</a:t>
            </a:r>
          </a:p>
          <a:p>
            <a:pPr marL="1485900" lvl="2" indent="-342900"/>
            <a:r>
              <a:rPr lang="en-US" sz="1600" dirty="0"/>
              <a:t>32gb RAM</a:t>
            </a:r>
          </a:p>
          <a:p>
            <a:pPr marL="1485900" lvl="2" indent="-342900"/>
            <a:r>
              <a:rPr lang="en-US" sz="1600" dirty="0"/>
              <a:t>NVIDIA RTX 2000 Ada [</a:t>
            </a:r>
            <a:r>
              <a:rPr lang="en-US" sz="1600" dirty="0">
                <a:hlinkClick r:id="rId4"/>
              </a:rPr>
              <a:t>NVIDIA</a:t>
            </a:r>
            <a:r>
              <a:rPr lang="en-US" sz="1600" dirty="0"/>
              <a:t>]</a:t>
            </a:r>
          </a:p>
          <a:p>
            <a:pPr marL="800100" lvl="1" indent="-342900"/>
            <a:r>
              <a:rPr lang="en-US" dirty="0"/>
              <a:t>2.) </a:t>
            </a:r>
            <a:r>
              <a:rPr lang="en-US" sz="2000" dirty="0"/>
              <a:t>Dell 5820 Tower Data Science Workstation</a:t>
            </a:r>
          </a:p>
          <a:p>
            <a:pPr marL="1485900" lvl="2" indent="-342900"/>
            <a:r>
              <a:rPr lang="en-US" sz="1600" dirty="0"/>
              <a:t>Intel Xeon Processor (W-2245) [</a:t>
            </a:r>
            <a:r>
              <a:rPr lang="en-US" sz="1600" dirty="0">
                <a:hlinkClick r:id="rId5"/>
              </a:rPr>
              <a:t>Intel</a:t>
            </a:r>
            <a:r>
              <a:rPr lang="en-US" sz="1600" dirty="0"/>
              <a:t>, </a:t>
            </a:r>
            <a:r>
              <a:rPr lang="en-US" sz="1600" dirty="0" err="1">
                <a:hlinkClick r:id="rId6"/>
              </a:rPr>
              <a:t>CPUBenchmark</a:t>
            </a:r>
            <a:r>
              <a:rPr lang="en-US" sz="1600" dirty="0"/>
              <a:t>]</a:t>
            </a:r>
          </a:p>
          <a:p>
            <a:pPr marL="1943100" lvl="3" indent="-342900"/>
            <a:r>
              <a:rPr lang="en-US" sz="1600" dirty="0"/>
              <a:t>better for workstation, 3D, data sci/viz, and server applications</a:t>
            </a:r>
          </a:p>
          <a:p>
            <a:pPr marL="1943100" lvl="3" indent="-342900"/>
            <a:r>
              <a:rPr lang="en-US" sz="1600" dirty="0"/>
              <a:t>‘backdated’ as prob. a 5</a:t>
            </a:r>
            <a:r>
              <a:rPr lang="en-US" sz="1600" baseline="30000" dirty="0"/>
              <a:t>th</a:t>
            </a:r>
            <a:r>
              <a:rPr lang="en-US" sz="1600" dirty="0"/>
              <a:t> gen Xeon processor</a:t>
            </a:r>
          </a:p>
          <a:p>
            <a:pPr marL="1485900" lvl="2" indent="-342900"/>
            <a:r>
              <a:rPr lang="en-US" sz="1600" dirty="0">
                <a:highlight>
                  <a:srgbClr val="FFFF00"/>
                </a:highlight>
              </a:rPr>
              <a:t>128gb</a:t>
            </a:r>
            <a:r>
              <a:rPr lang="en-US" sz="1600" dirty="0"/>
              <a:t> (4x32) DDR4 RAM</a:t>
            </a:r>
          </a:p>
          <a:p>
            <a:pPr marL="1485900" lvl="2" indent="-342900"/>
            <a:r>
              <a:rPr lang="en-US" sz="1600" dirty="0"/>
              <a:t>NVIDIA RTX A5000 GPU [</a:t>
            </a:r>
            <a:r>
              <a:rPr lang="en-US" sz="1600" dirty="0">
                <a:hlinkClick r:id="rId7"/>
              </a:rPr>
              <a:t>NVIDIA1</a:t>
            </a:r>
            <a:r>
              <a:rPr lang="en-US" sz="1600" dirty="0"/>
              <a:t>, </a:t>
            </a:r>
            <a:r>
              <a:rPr lang="en-US" sz="1600" dirty="0">
                <a:hlinkClick r:id="rId8"/>
              </a:rPr>
              <a:t>NVIDIA2</a:t>
            </a:r>
            <a:r>
              <a:rPr lang="en-US" sz="1600" dirty="0"/>
              <a:t>, </a:t>
            </a:r>
            <a:r>
              <a:rPr lang="en-US" sz="1600" dirty="0" err="1">
                <a:hlinkClick r:id="rId9"/>
              </a:rPr>
              <a:t>TechPowerUp</a:t>
            </a:r>
            <a:r>
              <a:rPr lang="en-US" sz="1600" dirty="0"/>
              <a:t>]</a:t>
            </a:r>
          </a:p>
          <a:p>
            <a:pPr marL="1943100" lvl="3" indent="-342900"/>
            <a:r>
              <a:rPr lang="en-US" sz="1600" dirty="0"/>
              <a:t>better for virtualization, visualization, and ML tasks</a:t>
            </a:r>
          </a:p>
          <a:p>
            <a:pPr marL="1485900" lvl="2" indent="-342900"/>
            <a:r>
              <a:rPr lang="en-US" sz="1600" dirty="0"/>
              <a:t>512GB NVME SSD (primary)</a:t>
            </a:r>
          </a:p>
          <a:p>
            <a:pPr marL="1485900" lvl="2" indent="-342900"/>
            <a:r>
              <a:rPr lang="en-US" sz="1600" dirty="0"/>
              <a:t>4TB M.2 NVME SSD (secondary)</a:t>
            </a:r>
          </a:p>
          <a:p>
            <a:pPr marL="1485900" lvl="2" indent="-3429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408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FE103-9F68-3D68-A00E-9A2F7B15D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990282"/>
          </a:xfrm>
        </p:spPr>
        <p:txBody>
          <a:bodyPr/>
          <a:lstStyle/>
          <a:p>
            <a:r>
              <a:rPr lang="en-US" dirty="0"/>
              <a:t>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23ABA-16F8-6C7E-4CD6-63B3A035E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8382000" cy="45720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Data Visualization: </a:t>
            </a:r>
            <a:r>
              <a:rPr lang="en-US" b="0" dirty="0"/>
              <a:t>Kind of self-explanatory, on a surface level; however, there is also the implication that these data will be communicated </a:t>
            </a:r>
            <a:r>
              <a:rPr lang="en-US" i="1" dirty="0"/>
              <a:t>effectively</a:t>
            </a:r>
            <a:r>
              <a:rPr lang="en-US" b="0" dirty="0"/>
              <a:t> (and sometimes even </a:t>
            </a:r>
            <a:r>
              <a:rPr lang="en-US" i="1" dirty="0"/>
              <a:t>efficiently</a:t>
            </a:r>
            <a:r>
              <a:rPr lang="en-US" b="0" dirty="0"/>
              <a:t>), which… ‘complicates’ things.</a:t>
            </a:r>
          </a:p>
          <a:p>
            <a:r>
              <a:rPr lang="en-US" dirty="0"/>
              <a:t>Charts</a:t>
            </a:r>
            <a:r>
              <a:rPr lang="en-US" b="0" dirty="0"/>
              <a:t> vs. </a:t>
            </a:r>
            <a:r>
              <a:rPr lang="en-US" dirty="0"/>
              <a:t>Graphs</a:t>
            </a:r>
            <a:r>
              <a:rPr lang="en-US" b="0" dirty="0"/>
              <a:t>: Charts are the larger category; graphs are the narrower sub-category. A </a:t>
            </a:r>
            <a:r>
              <a:rPr lang="en-US" i="1" dirty="0"/>
              <a:t>chart</a:t>
            </a:r>
            <a:r>
              <a:rPr lang="en-US" b="0" dirty="0"/>
              <a:t> is simply a graphical expression or representation of data, whereas a </a:t>
            </a:r>
            <a:r>
              <a:rPr lang="en-US" i="1" dirty="0"/>
              <a:t>graph</a:t>
            </a:r>
            <a:r>
              <a:rPr lang="en-US" b="0" dirty="0"/>
              <a:t> is a specific </a:t>
            </a:r>
            <a:r>
              <a:rPr lang="en-US" b="0" u="sng" dirty="0"/>
              <a:t>type</a:t>
            </a:r>
            <a:r>
              <a:rPr lang="en-US" b="0" dirty="0"/>
              <a:t> of chart that is especially good at showing the relationship between (usu. two) variables… often over time.</a:t>
            </a:r>
          </a:p>
          <a:p>
            <a:pPr marL="800100" lvl="1" indent="-342900"/>
            <a:r>
              <a:rPr lang="en-US" b="0" dirty="0"/>
              <a:t>“All graphs are charts, but not all charts are graphs.”</a:t>
            </a:r>
          </a:p>
          <a:p>
            <a:pPr marL="800100" lvl="1" indent="-342900"/>
            <a:r>
              <a:rPr lang="en-US" b="0" dirty="0"/>
              <a:t>Note: These definitions may also vary some, by discipline.</a:t>
            </a:r>
          </a:p>
          <a:p>
            <a:pPr marL="800100" lvl="1" indent="-342900"/>
            <a:r>
              <a:rPr lang="en-US" b="0" dirty="0"/>
              <a:t>Charts: Flow, Gantt, gauge/dial, </a:t>
            </a:r>
            <a:r>
              <a:rPr lang="en-US" b="0" dirty="0" err="1"/>
              <a:t>etc</a:t>
            </a:r>
            <a:endParaRPr lang="en-US" b="0" dirty="0"/>
          </a:p>
          <a:p>
            <a:pPr marL="1485900" lvl="2" indent="-342900"/>
            <a:r>
              <a:rPr lang="en-US" b="0" dirty="0"/>
              <a:t>(incl. Venn &amp; Euler diagrams)</a:t>
            </a:r>
          </a:p>
          <a:p>
            <a:pPr marL="800100" lvl="1" indent="-342900"/>
            <a:r>
              <a:rPr lang="en-US" b="0" dirty="0"/>
              <a:t>Graphs: line, bar, histogram, scatter plot, </a:t>
            </a:r>
            <a:r>
              <a:rPr lang="en-US" b="0" dirty="0" err="1"/>
              <a:t>etc</a:t>
            </a:r>
            <a:endParaRPr lang="en-US" dirty="0"/>
          </a:p>
          <a:p>
            <a:pPr marL="1485900" lvl="2" indent="-342900"/>
            <a:r>
              <a:rPr lang="en-US" b="0" dirty="0"/>
              <a:t>(usu. illustrate a mathematical relationship; esp. </a:t>
            </a:r>
            <a:r>
              <a:rPr lang="en-US" b="0" dirty="0" err="1"/>
              <a:t>x+y</a:t>
            </a:r>
            <a:r>
              <a:rPr lang="en-US" b="0" dirty="0"/>
              <a:t> axes, &amp; influence)</a:t>
            </a:r>
          </a:p>
          <a:p>
            <a:endParaRPr lang="en-US" b="0" dirty="0"/>
          </a:p>
          <a:p>
            <a:r>
              <a:rPr lang="en-US" b="0" dirty="0"/>
              <a:t>Note: Data Visualization is but one step in the ‘Data Science’ or more accurately ‘Data </a:t>
            </a:r>
            <a:r>
              <a:rPr lang="en-US" i="1" dirty="0"/>
              <a:t>Analysis</a:t>
            </a:r>
            <a:r>
              <a:rPr lang="en-US" b="0" dirty="0"/>
              <a:t>’ process… what some people are too quick to consider ‘the last one’. Consider that it doesn’t </a:t>
            </a:r>
            <a:r>
              <a:rPr lang="en-US" i="1" dirty="0"/>
              <a:t>have</a:t>
            </a:r>
            <a:r>
              <a:rPr lang="en-US" b="0" dirty="0"/>
              <a:t> to be this way (but often is).</a:t>
            </a:r>
          </a:p>
          <a:p>
            <a:r>
              <a:rPr lang="en-US" b="0" dirty="0"/>
              <a:t>EDA: </a:t>
            </a:r>
            <a:r>
              <a:rPr lang="en-US" dirty="0"/>
              <a:t>Exploratory Data Analysis</a:t>
            </a:r>
            <a:r>
              <a:rPr lang="en-US" b="0" dirty="0"/>
              <a:t> (</a:t>
            </a:r>
            <a:r>
              <a:rPr lang="en-US" b="0" dirty="0">
                <a:hlinkClick r:id="rId3"/>
              </a:rPr>
              <a:t>IBM</a:t>
            </a:r>
            <a:r>
              <a:rPr lang="en-US" b="0" dirty="0"/>
              <a:t>, </a:t>
            </a:r>
            <a:r>
              <a:rPr lang="en-US" b="0" dirty="0">
                <a:hlinkClick r:id="rId4"/>
              </a:rPr>
              <a:t>R4DS</a:t>
            </a:r>
            <a:r>
              <a:rPr lang="en-US" b="0" dirty="0"/>
              <a:t>, </a:t>
            </a:r>
            <a:r>
              <a:rPr lang="en-US" b="0" dirty="0">
                <a:hlinkClick r:id="rId5"/>
              </a:rPr>
              <a:t>NIST</a:t>
            </a:r>
            <a:r>
              <a:rPr lang="en-US" b="0" dirty="0"/>
              <a:t>, </a:t>
            </a:r>
            <a:r>
              <a:rPr lang="en-US" b="0" dirty="0" err="1"/>
              <a:t>etc</a:t>
            </a:r>
            <a:r>
              <a:rPr lang="en-US" b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06082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63FB6-8EDC-81B9-AACC-31992B55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718"/>
            <a:ext cx="8153400" cy="1218882"/>
          </a:xfrm>
        </p:spPr>
        <p:txBody>
          <a:bodyPr/>
          <a:lstStyle/>
          <a:p>
            <a:r>
              <a:rPr lang="en-US" dirty="0"/>
              <a:t>Intro to 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41BA1-BCE8-DD91-C6A0-017C39D68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7848600" cy="4724400"/>
          </a:xfrm>
        </p:spPr>
        <p:txBody>
          <a:bodyPr>
            <a:normAutofit fontScale="92500" lnSpcReduction="20000"/>
          </a:bodyPr>
          <a:lstStyle/>
          <a:p>
            <a:r>
              <a:rPr lang="en-US" b="0" dirty="0"/>
              <a:t>Common Steps:</a:t>
            </a:r>
          </a:p>
          <a:p>
            <a:pPr lvl="1"/>
            <a:r>
              <a:rPr lang="en-US" b="0" dirty="0"/>
              <a:t>ID </a:t>
            </a:r>
            <a:r>
              <a:rPr lang="en-US" dirty="0"/>
              <a:t>question(s), d</a:t>
            </a:r>
            <a:r>
              <a:rPr lang="en-US" b="0" dirty="0"/>
              <a:t>ata collection, data entry/storage, data editing (e.g. ‘cleaning’), data analysis, data communication/visualization.</a:t>
            </a:r>
          </a:p>
          <a:p>
            <a:pPr lvl="1"/>
            <a:r>
              <a:rPr lang="en-US" b="0" dirty="0"/>
              <a:t>Disclaimer: Again, some of this can vary a bit by discipline</a:t>
            </a:r>
            <a:br>
              <a:rPr lang="en-US" b="0" dirty="0"/>
            </a:br>
            <a:endParaRPr lang="en-US" b="0" dirty="0"/>
          </a:p>
          <a:p>
            <a:r>
              <a:rPr lang="en-US" b="0" dirty="0"/>
              <a:t>Some basic advice:</a:t>
            </a:r>
          </a:p>
          <a:p>
            <a:pPr marL="800100" lvl="1" indent="-342900"/>
            <a:r>
              <a:rPr lang="en-US" b="0" dirty="0"/>
              <a:t>Use </a:t>
            </a:r>
            <a:r>
              <a:rPr lang="en-US" b="0" dirty="0">
                <a:hlinkClick r:id="rId2"/>
              </a:rPr>
              <a:t>color</a:t>
            </a:r>
            <a:r>
              <a:rPr lang="en-US" b="0" dirty="0"/>
              <a:t>!</a:t>
            </a:r>
          </a:p>
          <a:p>
            <a:pPr marL="1485900" lvl="2" indent="-342900"/>
            <a:r>
              <a:rPr lang="en-US" b="0" dirty="0"/>
              <a:t>Stark contrast to highlight big/important differences</a:t>
            </a:r>
          </a:p>
          <a:p>
            <a:pPr marL="1943100" lvl="3" indent="-342900"/>
            <a:r>
              <a:rPr lang="en-US" b="0" dirty="0"/>
              <a:t>(good example of </a:t>
            </a:r>
            <a:r>
              <a:rPr lang="en-US" b="1" i="1" dirty="0"/>
              <a:t>not enough of this</a:t>
            </a:r>
            <a:r>
              <a:rPr lang="en-US" b="0" dirty="0"/>
              <a:t> on next slide)</a:t>
            </a:r>
          </a:p>
          <a:p>
            <a:pPr marL="1485900" lvl="2" indent="-342900"/>
            <a:r>
              <a:rPr lang="en-US" b="0" dirty="0"/>
              <a:t>Consider using shading to show smaller differences</a:t>
            </a:r>
          </a:p>
          <a:p>
            <a:pPr marL="1485900" lvl="2" indent="-342900"/>
            <a:r>
              <a:rPr lang="en-US" b="0" dirty="0"/>
              <a:t>Consider accessibility (e.g. color-blindness)</a:t>
            </a:r>
            <a:br>
              <a:rPr lang="en-US" b="0" dirty="0"/>
            </a:br>
            <a:endParaRPr lang="en-US" b="0" dirty="0"/>
          </a:p>
          <a:p>
            <a:r>
              <a:rPr lang="en-US" b="0" dirty="0"/>
              <a:t>Common/important concepts to consider:</a:t>
            </a:r>
          </a:p>
          <a:p>
            <a:pPr marL="800100" lvl="1" indent="-342900"/>
            <a:r>
              <a:rPr lang="en-US" b="0" dirty="0">
                <a:hlinkClick r:id="rId3"/>
              </a:rPr>
              <a:t>Infographics</a:t>
            </a:r>
            <a:endParaRPr lang="en-US" b="0" dirty="0"/>
          </a:p>
          <a:p>
            <a:pPr marL="800100" lvl="1" indent="-342900"/>
            <a:r>
              <a:rPr lang="en-US" b="0" dirty="0">
                <a:hlinkClick r:id="rId4"/>
              </a:rPr>
              <a:t>Visual storytelling</a:t>
            </a:r>
            <a:r>
              <a:rPr lang="en-US" b="0" dirty="0"/>
              <a:t> (e.g. </a:t>
            </a:r>
            <a:r>
              <a:rPr lang="en-US" b="0" dirty="0" err="1"/>
              <a:t>Knaflic</a:t>
            </a:r>
            <a:r>
              <a:rPr lang="en-US" b="0" dirty="0"/>
              <a:t>)</a:t>
            </a:r>
          </a:p>
          <a:p>
            <a:pPr marL="800100" lvl="1" indent="-342900"/>
            <a:r>
              <a:rPr lang="en-US" b="0" dirty="0"/>
              <a:t>Data visualization vs. </a:t>
            </a:r>
            <a:r>
              <a:rPr lang="en-US" b="0" dirty="0">
                <a:hlinkClick r:id="rId5"/>
              </a:rPr>
              <a:t>data </a:t>
            </a:r>
            <a:r>
              <a:rPr lang="en-US" b="1" i="1" dirty="0">
                <a:hlinkClick r:id="rId5"/>
              </a:rPr>
              <a:t>revelation</a:t>
            </a:r>
            <a:r>
              <a:rPr lang="en-US" dirty="0"/>
              <a:t> (e.g. Wexler)</a:t>
            </a:r>
          </a:p>
        </p:txBody>
      </p:sp>
    </p:spTree>
    <p:extLst>
      <p:ext uri="{BB962C8B-B14F-4D97-AF65-F5344CB8AC3E}">
        <p14:creationId xmlns:p14="http://schemas.microsoft.com/office/powerpoint/2010/main" val="3336999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the united states&#10;&#10;Description automatically generated">
            <a:extLst>
              <a:ext uri="{FF2B5EF4-FFF2-40B4-BE49-F238E27FC236}">
                <a16:creationId xmlns:a16="http://schemas.microsoft.com/office/drawing/2014/main" id="{45638790-5BD5-4810-0E91-A1C743184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683" y="0"/>
            <a:ext cx="50926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146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600" y="152400"/>
            <a:ext cx="8610600" cy="1295082"/>
          </a:xfrm>
        </p:spPr>
        <p:txBody>
          <a:bodyPr>
            <a:normAutofit/>
          </a:bodyPr>
          <a:lstStyle/>
          <a:p>
            <a:r>
              <a:rPr lang="en-US" dirty="0"/>
              <a:t>‘Common’ </a:t>
            </a:r>
            <a:r>
              <a:rPr lang="en-US" u="sng" dirty="0"/>
              <a:t>commercial</a:t>
            </a:r>
            <a:r>
              <a:rPr lang="en-US" dirty="0"/>
              <a:t> data Visualization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600" y="1524000"/>
            <a:ext cx="8610600" cy="5181600"/>
          </a:xfrm>
        </p:spPr>
        <p:txBody>
          <a:bodyPr>
            <a:normAutofit fontScale="77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Microsoft Excel [TTU has a license; part of the O365 suite]</a:t>
            </a:r>
          </a:p>
          <a:p>
            <a:pPr marL="800100" lvl="1" indent="-342900">
              <a:spcBef>
                <a:spcPts val="100"/>
              </a:spcBef>
              <a:spcAft>
                <a:spcPts val="600"/>
              </a:spcAft>
            </a:pPr>
            <a:r>
              <a:rPr lang="en-US" sz="1700" b="0" dirty="0"/>
              <a:t>certainly not the most glamorous choice, but </a:t>
            </a:r>
            <a:r>
              <a:rPr lang="en-US" sz="1700" b="1" i="1" dirty="0"/>
              <a:t>lots</a:t>
            </a:r>
            <a:r>
              <a:rPr lang="en-US" sz="1700" b="0" dirty="0"/>
              <a:t> of people start in Excel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SAS (originally “Statistical Analysis System”) [TTU has a license]</a:t>
            </a:r>
          </a:p>
          <a:p>
            <a:pPr marL="800100" lvl="1" indent="-342900">
              <a:spcBef>
                <a:spcPts val="100"/>
              </a:spcBef>
              <a:spcAft>
                <a:spcPts val="600"/>
              </a:spcAft>
            </a:pPr>
            <a:r>
              <a:rPr lang="en-US" sz="1600" b="0" dirty="0">
                <a:hlinkClick r:id="rId3"/>
              </a:rPr>
              <a:t>https://www.depts.ttu.edu/itts/software/sas.php</a:t>
            </a:r>
            <a:r>
              <a:rPr lang="en-US" b="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JMP (originally “John’s Macintosh Project”) [TTU has a license]</a:t>
            </a:r>
          </a:p>
          <a:p>
            <a:pPr marL="800100" lvl="1" indent="-342900">
              <a:spcBef>
                <a:spcPts val="100"/>
              </a:spcBef>
              <a:spcAft>
                <a:spcPts val="600"/>
              </a:spcAft>
            </a:pPr>
            <a:r>
              <a:rPr lang="en-US" sz="1700" b="0" dirty="0">
                <a:hlinkClick r:id="rId4"/>
              </a:rPr>
              <a:t>https://www.depts.ttu.edu/itts/software/jmp.php</a:t>
            </a:r>
            <a:r>
              <a:rPr lang="en-US" b="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SPSS (originally “Statistical Package for the Social Sciences,” and later “Statistical Product and Service Solutions”) [TTU has a license]</a:t>
            </a:r>
          </a:p>
          <a:p>
            <a:pPr marL="800100" lvl="1" indent="-342900">
              <a:spcBef>
                <a:spcPts val="100"/>
              </a:spcBef>
              <a:spcAft>
                <a:spcPts val="600"/>
              </a:spcAft>
            </a:pPr>
            <a:r>
              <a:rPr lang="en-US" sz="15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5"/>
              </a:rPr>
              <a:t>https://www.depts.ttu.edu/itts/software/spss.php</a:t>
            </a:r>
            <a:endParaRPr lang="en-US" sz="1500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Tableau (free version available: ‘Tableau Public’)</a:t>
            </a:r>
          </a:p>
          <a:p>
            <a:pPr marL="800100" lvl="1" indent="-342900">
              <a:spcBef>
                <a:spcPts val="100"/>
              </a:spcBef>
              <a:spcAft>
                <a:spcPts val="600"/>
              </a:spcAft>
            </a:pPr>
            <a:r>
              <a:rPr lang="en-US" sz="1500" b="0" dirty="0">
                <a:hlinkClick r:id="rId6"/>
              </a:rPr>
              <a:t>https://www.tableau.com/en-gb/products/public</a:t>
            </a:r>
            <a:r>
              <a:rPr lang="en-US" sz="1700" b="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Power BI (free version available) [</a:t>
            </a:r>
            <a:r>
              <a:rPr lang="en-US" b="0" dirty="0">
                <a:hlinkClick r:id="rId7"/>
              </a:rPr>
              <a:t>TTU </a:t>
            </a:r>
            <a:r>
              <a:rPr lang="en-US" b="0" u="sng" dirty="0">
                <a:hlinkClick r:id="rId7"/>
              </a:rPr>
              <a:t>had</a:t>
            </a:r>
            <a:r>
              <a:rPr lang="en-US" b="0" dirty="0">
                <a:hlinkClick r:id="rId7"/>
              </a:rPr>
              <a:t> a license… until recently</a:t>
            </a:r>
            <a:r>
              <a:rPr lang="en-US" b="0" dirty="0"/>
              <a:t>]</a:t>
            </a:r>
          </a:p>
          <a:p>
            <a:pPr marL="800100" lvl="1" indent="-342900">
              <a:spcBef>
                <a:spcPts val="100"/>
              </a:spcBef>
              <a:spcAft>
                <a:spcPts val="600"/>
              </a:spcAft>
            </a:pPr>
            <a:r>
              <a:rPr lang="en-US" sz="1500" b="0" dirty="0">
                <a:hlinkClick r:id="rId8"/>
              </a:rPr>
              <a:t>https://www.microsoft.com/en-us/power-platform/products/power-bi/desktop</a:t>
            </a:r>
            <a:r>
              <a:rPr lang="en-US" sz="1800" b="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MATLAB [TTU has a license] [</a:t>
            </a:r>
            <a:r>
              <a:rPr lang="en-US" b="0" dirty="0">
                <a:hlinkClick r:id="rId9"/>
              </a:rPr>
              <a:t>older link</a:t>
            </a:r>
            <a:r>
              <a:rPr lang="en-US" b="0" dirty="0"/>
              <a:t>]</a:t>
            </a:r>
          </a:p>
          <a:p>
            <a:pPr marL="800100" lvl="1" indent="-342900">
              <a:spcBef>
                <a:spcPts val="100"/>
              </a:spcBef>
              <a:spcAft>
                <a:spcPts val="600"/>
              </a:spcAft>
            </a:pPr>
            <a:r>
              <a:rPr lang="en-US" sz="1600" b="0" dirty="0">
                <a:hlinkClick r:id="rId10"/>
              </a:rPr>
              <a:t>https://www.depts.ttu.edu/itts/software/matlab/index.php</a:t>
            </a:r>
            <a:r>
              <a:rPr lang="en-US" sz="1600" b="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Stata [</a:t>
            </a:r>
            <a:r>
              <a:rPr lang="en-US" i="1" dirty="0"/>
              <a:t>no TTU license</a:t>
            </a:r>
            <a:r>
              <a:rPr lang="en-US" b="0" dirty="0"/>
              <a:t>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Note: Be sure to check out TTU’s main/general site licenses page:</a:t>
            </a:r>
          </a:p>
          <a:p>
            <a:pPr marL="800100" lvl="1" indent="-342900">
              <a:spcBef>
                <a:spcPts val="100"/>
              </a:spcBef>
            </a:pPr>
            <a:r>
              <a:rPr lang="en-US" sz="1600" b="0" dirty="0">
                <a:hlinkClick r:id="rId11"/>
              </a:rPr>
              <a:t>https://www.depts.ttu.edu/itts/software/</a:t>
            </a:r>
            <a:endParaRPr lang="en-US" sz="1600" b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100628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0"/>
            <a:ext cx="8610600" cy="1295082"/>
          </a:xfrm>
        </p:spPr>
        <p:txBody>
          <a:bodyPr>
            <a:normAutofit/>
          </a:bodyPr>
          <a:lstStyle/>
          <a:p>
            <a:r>
              <a:rPr lang="en-US" dirty="0"/>
              <a:t>‘Common’ </a:t>
            </a:r>
            <a:r>
              <a:rPr lang="en-US" u="sng" dirty="0"/>
              <a:t>open-source</a:t>
            </a:r>
            <a:r>
              <a:rPr lang="en-US" dirty="0"/>
              <a:t> data Visualization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667000"/>
            <a:ext cx="8153400" cy="3048000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hlinkClick r:id="rId3"/>
              </a:rPr>
              <a:t>R</a:t>
            </a:r>
            <a:r>
              <a:rPr lang="en-US" b="0" dirty="0"/>
              <a:t> and/or </a:t>
            </a:r>
            <a:r>
              <a:rPr lang="en-US" b="0" dirty="0">
                <a:hlinkClick r:id="rId4"/>
              </a:rPr>
              <a:t>RStudio</a:t>
            </a:r>
            <a:r>
              <a:rPr lang="en-US" b="0" dirty="0"/>
              <a:t> (often using </a:t>
            </a:r>
            <a:r>
              <a:rPr lang="en-US" b="0" dirty="0">
                <a:hlinkClick r:id="rId5"/>
              </a:rPr>
              <a:t>ggplot2</a:t>
            </a:r>
            <a:r>
              <a:rPr lang="en-US" b="0" dirty="0"/>
              <a:t>)</a:t>
            </a:r>
          </a:p>
          <a:p>
            <a:pPr marL="800100" lvl="1" indent="-342900">
              <a:spcBef>
                <a:spcPts val="100"/>
              </a:spcBef>
              <a:spcAft>
                <a:spcPts val="600"/>
              </a:spcAft>
            </a:pPr>
            <a:r>
              <a:rPr lang="en-US" sz="1700" b="0" dirty="0"/>
              <a:t>Helpful instructions at: </a:t>
            </a:r>
            <a:r>
              <a:rPr lang="en-US" sz="1700" b="0" dirty="0">
                <a:hlinkClick r:id="rId6"/>
              </a:rPr>
              <a:t>https://rstudio-education.github.io/hopr/starting.html</a:t>
            </a:r>
            <a:r>
              <a:rPr lang="en-US" sz="1700" b="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hlinkClick r:id="rId7"/>
              </a:rPr>
              <a:t>Python</a:t>
            </a:r>
            <a:r>
              <a:rPr lang="en-US" b="0" dirty="0"/>
              <a:t> (using </a:t>
            </a:r>
            <a:r>
              <a:rPr lang="en-US" b="0" dirty="0">
                <a:hlinkClick r:id="rId8"/>
              </a:rPr>
              <a:t>Matplotlib</a:t>
            </a:r>
            <a:r>
              <a:rPr lang="en-US" b="0" dirty="0"/>
              <a:t>, </a:t>
            </a:r>
            <a:r>
              <a:rPr lang="en-US" b="0" dirty="0" err="1">
                <a:hlinkClick r:id="rId9"/>
              </a:rPr>
              <a:t>Plotly</a:t>
            </a:r>
            <a:r>
              <a:rPr lang="en-US" b="0" dirty="0"/>
              <a:t>, </a:t>
            </a:r>
            <a:r>
              <a:rPr lang="en-US" b="0" dirty="0" err="1"/>
              <a:t>etc</a:t>
            </a:r>
            <a:r>
              <a:rPr lang="en-US" b="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hlinkClick r:id="rId10"/>
              </a:rPr>
              <a:t>D3.js</a:t>
            </a:r>
            <a:endParaRPr lang="en-US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 err="1">
                <a:hlinkClick r:id="rId11"/>
              </a:rPr>
              <a:t>ECharts</a:t>
            </a:r>
            <a:r>
              <a:rPr lang="en-US" b="0" dirty="0"/>
              <a:t> / </a:t>
            </a:r>
            <a:r>
              <a:rPr lang="en-US" b="0" dirty="0" err="1">
                <a:hlinkClick r:id="rId12"/>
              </a:rPr>
              <a:t>EChartsJS</a:t>
            </a:r>
            <a:endParaRPr lang="en-US" b="0" dirty="0"/>
          </a:p>
          <a:p>
            <a:pPr marL="800100" lvl="1" indent="-342900">
              <a:spcBef>
                <a:spcPts val="100"/>
              </a:spcBef>
              <a:spcAft>
                <a:spcPts val="600"/>
              </a:spcAft>
            </a:pPr>
            <a:r>
              <a:rPr lang="en-US" sz="1700" b="0" dirty="0"/>
              <a:t>GitLab (not GitHub): “</a:t>
            </a:r>
            <a:r>
              <a:rPr lang="en-US" sz="1700" b="0" dirty="0">
                <a:hlinkClick r:id="rId13"/>
              </a:rPr>
              <a:t>Why we chose </a:t>
            </a:r>
            <a:r>
              <a:rPr lang="en-US" sz="1700" b="0" dirty="0" err="1">
                <a:hlinkClick r:id="rId13"/>
              </a:rPr>
              <a:t>ECharts</a:t>
            </a:r>
            <a:r>
              <a:rPr lang="en-US" sz="1700" b="0" dirty="0">
                <a:hlinkClick r:id="rId13"/>
              </a:rPr>
              <a:t> for data visualizations</a:t>
            </a:r>
            <a:r>
              <a:rPr lang="en-US" sz="1700" b="0" dirty="0"/>
              <a:t>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hlinkClick r:id="rId14"/>
              </a:rPr>
              <a:t>Vega</a:t>
            </a:r>
            <a:endParaRPr lang="en-US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hlinkClick r:id="rId15"/>
              </a:rPr>
              <a:t>deck.gl</a:t>
            </a:r>
            <a:endParaRPr lang="en-US" b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highlight>
                <a:srgbClr val="FFFF00"/>
              </a:highligh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842453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7772400" cy="685800"/>
          </a:xfrm>
        </p:spPr>
        <p:txBody>
          <a:bodyPr/>
          <a:lstStyle/>
          <a:p>
            <a:r>
              <a:rPr lang="en-US" dirty="0"/>
              <a:t>other Related Workshops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077200" cy="5562600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spcBef>
                <a:spcPts val="1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b="0" dirty="0">
                <a:hlinkClick r:id="rId3"/>
              </a:rPr>
              <a:t>Cynthia Henry</a:t>
            </a:r>
            <a:r>
              <a:rPr lang="en-US" b="0" dirty="0"/>
              <a:t> &amp; </a:t>
            </a:r>
            <a:r>
              <a:rPr lang="en-US" b="0" dirty="0">
                <a:hlinkClick r:id="rId4"/>
              </a:rPr>
              <a:t>Jingjing Wu</a:t>
            </a:r>
            <a:r>
              <a:rPr lang="en-US" b="0" dirty="0"/>
              <a:t> usually give ~1 workshop per semester on Tableau</a:t>
            </a:r>
          </a:p>
          <a:p>
            <a:pPr marL="800100" lvl="1" indent="-342900"/>
            <a:r>
              <a:rPr lang="en-US" b="0" dirty="0">
                <a:hlinkClick r:id="rId5"/>
              </a:rPr>
              <a:t>https://guides.library.ttu.edu/tableau</a:t>
            </a:r>
            <a:r>
              <a:rPr lang="en-US" dirty="0"/>
              <a:t> </a:t>
            </a:r>
          </a:p>
          <a:p>
            <a:pPr lvl="1" indent="0">
              <a:spcAft>
                <a:spcPts val="600"/>
              </a:spcAft>
              <a:buNone/>
            </a:pPr>
            <a:endParaRPr lang="en-US" b="0" dirty="0"/>
          </a:p>
          <a:p>
            <a:pPr marL="342900" indent="-342900">
              <a:spcBef>
                <a:spcPts val="1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b="0" dirty="0">
                <a:hlinkClick r:id="rId3"/>
              </a:rPr>
              <a:t>Cynthia</a:t>
            </a:r>
            <a:r>
              <a:rPr lang="en-US" b="0" dirty="0"/>
              <a:t> &amp; </a:t>
            </a:r>
            <a:r>
              <a:rPr lang="en-US" b="0" dirty="0">
                <a:hlinkClick r:id="rId4"/>
              </a:rPr>
              <a:t>Jingjing</a:t>
            </a:r>
            <a:r>
              <a:rPr lang="en-US" b="0" dirty="0"/>
              <a:t> also have an occasional (4-6 part) workshop series introducing R, and working in R Studio</a:t>
            </a:r>
          </a:p>
          <a:p>
            <a:pPr marL="800100" lvl="1" indent="-342900"/>
            <a:r>
              <a:rPr lang="en-US" b="0" dirty="0">
                <a:hlinkClick r:id="rId6"/>
              </a:rPr>
              <a:t>https://guides.library.ttu.edu/R4Beginners</a:t>
            </a:r>
            <a:r>
              <a:rPr lang="en-US" dirty="0"/>
              <a:t> </a:t>
            </a:r>
          </a:p>
          <a:p>
            <a:pPr marL="800100" lvl="1" indent="-342900"/>
            <a:endParaRPr lang="en-US" b="0" dirty="0"/>
          </a:p>
          <a:p>
            <a:pPr marL="342900" indent="-342900">
              <a:spcBef>
                <a:spcPts val="1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b="0" dirty="0">
                <a:hlinkClick r:id="rId7"/>
              </a:rPr>
              <a:t>Sean Scully</a:t>
            </a:r>
            <a:r>
              <a:rPr lang="en-US" b="0" dirty="0"/>
              <a:t> gives 1-3 ‘Make with MATLAB’ workshops per [long] semester</a:t>
            </a:r>
          </a:p>
          <a:p>
            <a:pPr marL="800100" lvl="1" indent="-342900"/>
            <a:r>
              <a:rPr lang="en-US" b="0" dirty="0">
                <a:hlinkClick r:id="rId8"/>
              </a:rPr>
              <a:t>https://guides.library.ttu.edu/makewithmatlab</a:t>
            </a:r>
            <a:r>
              <a:rPr lang="en-US" b="0" dirty="0"/>
              <a:t> </a:t>
            </a:r>
          </a:p>
          <a:p>
            <a:pPr marL="800100" lvl="1" indent="-342900"/>
            <a:endParaRPr lang="en-US" b="0" dirty="0"/>
          </a:p>
          <a:p>
            <a:pPr marL="342900" indent="-342900">
              <a:spcBef>
                <a:spcPts val="1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b="0" dirty="0"/>
              <a:t>National Wind Institute (NWI) two-day Data Science Training</a:t>
            </a:r>
          </a:p>
          <a:p>
            <a:pPr marL="800100" lvl="1" indent="-342900">
              <a:spcAft>
                <a:spcPts val="600"/>
              </a:spcAft>
            </a:pPr>
            <a:r>
              <a:rPr lang="en-US" dirty="0"/>
              <a:t>keep an eye on </a:t>
            </a:r>
            <a:r>
              <a:rPr lang="en-US" dirty="0" err="1">
                <a:hlinkClick r:id="rId9"/>
              </a:rPr>
              <a:t>TechAnnounce</a:t>
            </a:r>
            <a:r>
              <a:rPr lang="en-US" dirty="0"/>
              <a:t> [not sure if their grant was renewed]</a:t>
            </a:r>
          </a:p>
          <a:p>
            <a:pPr marL="800100" lvl="1" indent="-342900">
              <a:spcAft>
                <a:spcPts val="600"/>
              </a:spcAft>
            </a:pPr>
            <a:endParaRPr lang="en-US" b="0" dirty="0"/>
          </a:p>
          <a:p>
            <a:pPr marL="342900" indent="-342900">
              <a:spcBef>
                <a:spcPts val="1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b="0" dirty="0"/>
              <a:t>The </a:t>
            </a:r>
            <a:r>
              <a:rPr lang="en-US" b="0" dirty="0">
                <a:hlinkClick r:id="rId10"/>
              </a:rPr>
              <a:t>ATLC</a:t>
            </a:r>
            <a:r>
              <a:rPr lang="en-US" b="0" dirty="0"/>
              <a:t> (</a:t>
            </a:r>
            <a:r>
              <a:rPr lang="en-US" b="0" dirty="0">
                <a:hlinkClick r:id="rId11"/>
              </a:rPr>
              <a:t>Locations</a:t>
            </a:r>
            <a:r>
              <a:rPr lang="en-US" b="0" dirty="0"/>
              <a:t>; </a:t>
            </a:r>
            <a:r>
              <a:rPr lang="en-US" b="0" dirty="0">
                <a:hlinkClick r:id="rId10"/>
              </a:rPr>
              <a:t>Software</a:t>
            </a:r>
            <a:r>
              <a:rPr lang="en-US" b="0" dirty="0"/>
              <a:t>) also gives 1-2 ‘Intro to Power BI’ workshops (</a:t>
            </a:r>
            <a:r>
              <a:rPr lang="en-US" b="0" dirty="0" err="1"/>
              <a:t>ShortCourses</a:t>
            </a:r>
            <a:r>
              <a:rPr lang="en-US" b="0" dirty="0"/>
              <a:t>) each semester</a:t>
            </a:r>
          </a:p>
          <a:p>
            <a:pPr marL="800100" lvl="1" indent="-342900"/>
            <a:r>
              <a:rPr lang="en-US" b="0" dirty="0">
                <a:hlinkClick r:id="rId12"/>
              </a:rPr>
              <a:t>https://www.depts.ttu.edu/itts/training/shortcourses/</a:t>
            </a:r>
            <a:r>
              <a:rPr lang="en-US" dirty="0"/>
              <a:t> </a:t>
            </a:r>
          </a:p>
          <a:p>
            <a:pPr marL="800100" lvl="1" indent="-342900"/>
            <a:r>
              <a:rPr lang="en-US" dirty="0"/>
              <a:t>next will be on… I’m </a:t>
            </a:r>
            <a:r>
              <a:rPr lang="en-US"/>
              <a:t>not sure </a:t>
            </a:r>
            <a:r>
              <a:rPr lang="en-US" dirty="0"/>
              <a:t>anymore, now that they let the license lapse</a:t>
            </a:r>
          </a:p>
          <a:p>
            <a:pPr marL="1485900" lvl="2" indent="-342900"/>
            <a:r>
              <a:rPr lang="en-US" dirty="0"/>
              <a:t>select ‘Microsoft’ category to see the full list</a:t>
            </a:r>
          </a:p>
          <a:p>
            <a:pPr marL="1485900" lvl="2" indent="-342900"/>
            <a:r>
              <a:rPr lang="en-US" b="0" dirty="0"/>
              <a:t>also check out the ‘HPCC’ category!</a:t>
            </a:r>
          </a:p>
        </p:txBody>
      </p:sp>
    </p:spTree>
    <p:extLst>
      <p:ext uri="{BB962C8B-B14F-4D97-AF65-F5344CB8AC3E}">
        <p14:creationId xmlns:p14="http://schemas.microsoft.com/office/powerpoint/2010/main" val="2156968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924800" cy="990282"/>
          </a:xfrm>
        </p:spPr>
        <p:txBody>
          <a:bodyPr/>
          <a:lstStyle/>
          <a:p>
            <a:r>
              <a:rPr lang="en-US" dirty="0" err="1"/>
              <a:t>O’reilly</a:t>
            </a:r>
            <a:r>
              <a:rPr lang="en-US" dirty="0"/>
              <a:t> (via </a:t>
            </a:r>
            <a:r>
              <a:rPr lang="en-US" u="sng" dirty="0"/>
              <a:t>TTU Libraries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800" y="1219200"/>
            <a:ext cx="7924800" cy="5334000"/>
          </a:xfrm>
        </p:spPr>
        <p:txBody>
          <a:bodyPr>
            <a:normAutofit lnSpcReduction="10000"/>
          </a:bodyPr>
          <a:lstStyle/>
          <a:p>
            <a:r>
              <a:rPr lang="en-US" b="0" dirty="0"/>
              <a:t>E-books and other digital resources that cover many software platforms, including resources for data analysis and visualization.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Free to Texas Tech students.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0" dirty="0"/>
              <a:t>Start at the Library homepage: </a:t>
            </a:r>
            <a:r>
              <a:rPr lang="en-US" b="0" dirty="0">
                <a:hlinkClick r:id="rId3"/>
              </a:rPr>
              <a:t>library.ttu.edu</a:t>
            </a:r>
            <a:endParaRPr lang="en-US" b="0" dirty="0"/>
          </a:p>
          <a:p>
            <a:pPr marL="457200" indent="-457200">
              <a:buFont typeface="+mj-lt"/>
              <a:buAutoNum type="arabicPeriod"/>
            </a:pPr>
            <a:r>
              <a:rPr lang="en-US" b="0" dirty="0"/>
              <a:t>Click on Databases A-Z</a:t>
            </a:r>
          </a:p>
          <a:p>
            <a:pPr marL="457200" indent="-457200">
              <a:buFont typeface="+mj-lt"/>
              <a:buAutoNum type="arabicPeriod"/>
            </a:pPr>
            <a:r>
              <a:rPr lang="en-US" b="0" dirty="0"/>
              <a:t>Click on the “O” or type “O’Reilly” (or ‘</a:t>
            </a:r>
            <a:r>
              <a:rPr lang="en-US" b="0" dirty="0" err="1"/>
              <a:t>oreilly</a:t>
            </a:r>
            <a:r>
              <a:rPr lang="en-US" b="0" dirty="0"/>
              <a:t>’) into search box</a:t>
            </a:r>
          </a:p>
          <a:p>
            <a:pPr marL="457200" indent="-457200">
              <a:buFont typeface="+mj-lt"/>
              <a:buAutoNum type="arabicPeriod"/>
            </a:pPr>
            <a:r>
              <a:rPr lang="en-US" b="0" dirty="0"/>
              <a:t>Select “O’Reilly for Higher Education” from the results</a:t>
            </a:r>
          </a:p>
          <a:p>
            <a:pPr marL="457200" indent="-457200">
              <a:buFont typeface="+mj-lt"/>
              <a:buAutoNum type="arabicPeriod"/>
            </a:pPr>
            <a:r>
              <a:rPr lang="en-US" b="0" dirty="0"/>
              <a:t>Sign in (start off using your TTU email, then finish with your </a:t>
            </a:r>
            <a:r>
              <a:rPr lang="en-US" b="0" dirty="0" err="1"/>
              <a:t>eRaider</a:t>
            </a:r>
            <a:r>
              <a:rPr lang="en-US" b="0" dirty="0"/>
              <a:t> </a:t>
            </a:r>
            <a:r>
              <a:rPr lang="en-US" b="0" dirty="0" err="1"/>
              <a:t>username+password</a:t>
            </a:r>
            <a:r>
              <a:rPr lang="en-US" b="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b="0" dirty="0"/>
              <a:t>Once in the database, use the search box to search for “SPSS” or “Tableau” (or “data visualization,” or whatever other topic you want to find resources on)</a:t>
            </a:r>
          </a:p>
          <a:p>
            <a:pPr marL="457200" indent="-457200">
              <a:buFont typeface="+mj-lt"/>
              <a:buAutoNum type="arabicPeriod"/>
            </a:pPr>
            <a:r>
              <a:rPr lang="en-US" b="0" dirty="0"/>
              <a:t>Can limit/filter results by: All, Books, Courses, Videos, Audiobooks, Playlists</a:t>
            </a:r>
          </a:p>
        </p:txBody>
      </p:sp>
    </p:spTree>
    <p:extLst>
      <p:ext uri="{BB962C8B-B14F-4D97-AF65-F5344CB8AC3E}">
        <p14:creationId xmlns:p14="http://schemas.microsoft.com/office/powerpoint/2010/main" val="3949070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924800" cy="990282"/>
          </a:xfrm>
        </p:spPr>
        <p:txBody>
          <a:bodyPr/>
          <a:lstStyle/>
          <a:p>
            <a:r>
              <a:rPr lang="en-US" dirty="0" err="1"/>
              <a:t>O’reilly</a:t>
            </a:r>
            <a:r>
              <a:rPr lang="en-US" dirty="0"/>
              <a:t>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800" y="1600200"/>
            <a:ext cx="8296200" cy="4953000"/>
          </a:xfrm>
        </p:spPr>
        <p:txBody>
          <a:bodyPr>
            <a:normAutofit/>
          </a:bodyPr>
          <a:lstStyle/>
          <a:p>
            <a:r>
              <a:rPr lang="en-US" b="0" dirty="0"/>
              <a:t>A small sampling of related O’Reilly content: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Claus Wilke (2019). “</a:t>
            </a:r>
            <a:r>
              <a:rPr lang="en-US" b="0" dirty="0">
                <a:hlinkClick r:id="rId3"/>
              </a:rPr>
              <a:t>Fundamentals of Data Visualization</a:t>
            </a:r>
            <a:r>
              <a:rPr lang="en-US" b="0" dirty="0"/>
              <a:t>,” O’Reilly.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Dougherty &amp; </a:t>
            </a:r>
            <a:r>
              <a:rPr lang="en-US" b="0" dirty="0" err="1"/>
              <a:t>Ilyankou</a:t>
            </a:r>
            <a:r>
              <a:rPr lang="en-US" b="0" dirty="0"/>
              <a:t> (2021). "</a:t>
            </a:r>
            <a:r>
              <a:rPr lang="en-US" b="0" dirty="0">
                <a:hlinkClick r:id="rId4"/>
              </a:rPr>
              <a:t>Hands-On Data Visualization: Interactive Storytelling from Spreadsheets to Code</a:t>
            </a:r>
            <a:r>
              <a:rPr lang="en-US" b="0" dirty="0"/>
              <a:t>," O'Reilly.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Jeffrey Heer (2015). "</a:t>
            </a:r>
            <a:r>
              <a:rPr lang="en-US" b="0" dirty="0">
                <a:hlinkClick r:id="rId5"/>
              </a:rPr>
              <a:t>Effective Data Visualization</a:t>
            </a:r>
            <a:r>
              <a:rPr lang="en-US" b="0" dirty="0"/>
              <a:t>," O'Reilly. [Course]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James Miller (2017). "</a:t>
            </a:r>
            <a:r>
              <a:rPr lang="en-US" b="0" dirty="0">
                <a:hlinkClick r:id="rId6"/>
              </a:rPr>
              <a:t>Big Data Visualization</a:t>
            </a:r>
            <a:r>
              <a:rPr lang="en-US" b="0" dirty="0"/>
              <a:t>," </a:t>
            </a:r>
            <a:r>
              <a:rPr lang="en-US" b="0" dirty="0" err="1"/>
              <a:t>Packt</a:t>
            </a:r>
            <a:r>
              <a:rPr lang="en-US" b="0" dirty="0"/>
              <a:t> Publishing.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Cole </a:t>
            </a:r>
            <a:r>
              <a:rPr lang="en-US" b="0" dirty="0" err="1"/>
              <a:t>Nussbaumer</a:t>
            </a:r>
            <a:r>
              <a:rPr lang="en-US" b="0" dirty="0"/>
              <a:t> </a:t>
            </a:r>
            <a:r>
              <a:rPr lang="en-US" b="0" dirty="0" err="1"/>
              <a:t>Knaflic</a:t>
            </a:r>
            <a:r>
              <a:rPr lang="en-US" b="0" dirty="0"/>
              <a:t> (2015). "</a:t>
            </a:r>
            <a:r>
              <a:rPr lang="en-US" b="0" dirty="0">
                <a:hlinkClick r:id="rId7"/>
              </a:rPr>
              <a:t>Storytelling with Data: A Data Visualization Guide for Business Professionals</a:t>
            </a:r>
            <a:r>
              <a:rPr lang="en-US" b="0" dirty="0"/>
              <a:t>," Wiley.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 err="1"/>
              <a:t>Kyran</a:t>
            </a:r>
            <a:r>
              <a:rPr lang="en-US" b="0" dirty="0"/>
              <a:t> Dale (2022). "</a:t>
            </a:r>
            <a:r>
              <a:rPr lang="en-US" b="0" dirty="0">
                <a:hlinkClick r:id="rId8"/>
              </a:rPr>
              <a:t>Data Visualization with Python and JavaScript: Scrape, Clean, Explore, and Transform Your Data</a:t>
            </a:r>
            <a:r>
              <a:rPr lang="en-US" b="0" dirty="0"/>
              <a:t>," 2nd Ed, O'Reilly.</a:t>
            </a:r>
          </a:p>
        </p:txBody>
      </p:sp>
    </p:spTree>
    <p:extLst>
      <p:ext uri="{BB962C8B-B14F-4D97-AF65-F5344CB8AC3E}">
        <p14:creationId xmlns:p14="http://schemas.microsoft.com/office/powerpoint/2010/main" val="2156163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620000" cy="1066482"/>
          </a:xfrm>
        </p:spPr>
        <p:txBody>
          <a:bodyPr/>
          <a:lstStyle/>
          <a:p>
            <a:r>
              <a:rPr lang="en-US" dirty="0"/>
              <a:t>Udemy (via </a:t>
            </a:r>
            <a:r>
              <a:rPr lang="en-US" u="sng" dirty="0"/>
              <a:t>TTU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170" y="1371600"/>
            <a:ext cx="7649029" cy="5181600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b="0" dirty="0">
                <a:hlinkClick r:id="rId3"/>
              </a:rPr>
              <a:t>https://ttu.udemy.com/</a:t>
            </a:r>
            <a:endParaRPr lang="en-US" b="0" dirty="0"/>
          </a:p>
          <a:p>
            <a:pPr marL="342900" indent="-34290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dirty="0"/>
              <a:t>More info here:</a:t>
            </a:r>
          </a:p>
          <a:p>
            <a:pPr marL="800100" lvl="1" indent="-342900"/>
            <a:r>
              <a:rPr lang="en-US" b="0" dirty="0">
                <a:hlinkClick r:id="rId4"/>
              </a:rPr>
              <a:t>https://www.depts.ttu.edu/itts/training/online/</a:t>
            </a:r>
            <a:r>
              <a:rPr lang="en-US" b="0" dirty="0"/>
              <a:t> </a:t>
            </a:r>
          </a:p>
          <a:p>
            <a:pPr marL="800100" lvl="1" indent="-342900">
              <a:spcAft>
                <a:spcPts val="200"/>
              </a:spcAft>
            </a:pPr>
            <a:r>
              <a:rPr lang="en-US" b="0" dirty="0">
                <a:hlinkClick r:id="rId5"/>
              </a:rPr>
              <a:t>https://www.depts.ttu.edu/itts/software/cbt.php</a:t>
            </a:r>
            <a:r>
              <a:rPr lang="en-US" b="0" dirty="0"/>
              <a:t> </a:t>
            </a:r>
          </a:p>
          <a:p>
            <a:pPr marL="342900" indent="-3429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b="0" dirty="0"/>
              <a:t>Free (to authorized TTU-affiliated users) ‘massive[</a:t>
            </a:r>
            <a:r>
              <a:rPr lang="en-US" b="0" dirty="0" err="1"/>
              <a:t>ly</a:t>
            </a:r>
            <a:r>
              <a:rPr lang="en-US" b="0" dirty="0"/>
              <a:t>] open’ online course provider’ platform. You can find courses you are interested in and add them to your personal playlist.</a:t>
            </a:r>
          </a:p>
          <a:p>
            <a:pPr marL="342900" indent="-34290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dirty="0"/>
              <a:t>A small sample of ‘general’ DataViz courses:</a:t>
            </a:r>
          </a:p>
          <a:p>
            <a:pPr marL="800100" lvl="1" indent="-342900"/>
            <a:r>
              <a:rPr lang="en-US" b="0" dirty="0">
                <a:hlinkClick r:id="rId6"/>
              </a:rPr>
              <a:t>Mastering Data Visualization: Theory and Foundations</a:t>
            </a:r>
            <a:endParaRPr lang="en-US" b="0" dirty="0"/>
          </a:p>
          <a:p>
            <a:pPr marL="800100" lvl="1" indent="-342900"/>
            <a:r>
              <a:rPr lang="en-US" dirty="0">
                <a:hlinkClick r:id="rId7"/>
              </a:rPr>
              <a:t>How To Tell A Story With Data</a:t>
            </a:r>
            <a:endParaRPr lang="en-US" dirty="0"/>
          </a:p>
          <a:p>
            <a:pPr marL="800100" lvl="1" indent="-342900"/>
            <a:r>
              <a:rPr lang="en-US" b="0" dirty="0">
                <a:hlinkClick r:id="rId8"/>
              </a:rPr>
              <a:t>Data Storytelling and Data Visualization Mastery</a:t>
            </a:r>
            <a:endParaRPr lang="en-US" b="0" dirty="0"/>
          </a:p>
          <a:p>
            <a:pPr marL="342900" indent="-34290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0" dirty="0"/>
              <a:t>Also includes ‘applied’ courses, such as:</a:t>
            </a:r>
          </a:p>
          <a:p>
            <a:pPr marL="800100" lvl="1" indent="-342900"/>
            <a:r>
              <a:rPr lang="en-US" dirty="0">
                <a:hlinkClick r:id="rId9"/>
              </a:rPr>
              <a:t>Microsoft Excel - Data Visualization, Excel Charts &amp; Graphs</a:t>
            </a:r>
            <a:endParaRPr lang="en-US" dirty="0"/>
          </a:p>
          <a:p>
            <a:pPr marL="800100" lvl="1" indent="-342900"/>
            <a:r>
              <a:rPr lang="en-US" dirty="0">
                <a:hlinkClick r:id="rId10"/>
              </a:rPr>
              <a:t>Mastering Data Visualization in D3.js</a:t>
            </a:r>
            <a:endParaRPr lang="en-US" dirty="0"/>
          </a:p>
          <a:p>
            <a:pPr marL="800100" lvl="1" indent="-342900"/>
            <a:r>
              <a:rPr lang="en-US" dirty="0">
                <a:hlinkClick r:id="rId11"/>
              </a:rPr>
              <a:t>Learning Python for Data Analysis and Visualization Ver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792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620000" cy="1066482"/>
          </a:xfrm>
        </p:spPr>
        <p:txBody>
          <a:bodyPr/>
          <a:lstStyle/>
          <a:p>
            <a:r>
              <a:rPr lang="en-US" dirty="0"/>
              <a:t>Coursera (via </a:t>
            </a:r>
            <a:r>
              <a:rPr lang="en-US" u="sng" dirty="0"/>
              <a:t>TTU</a:t>
            </a:r>
            <a:r>
              <a:rPr lang="en-US" dirty="0"/>
              <a:t>) [New!]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153400" cy="5029200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3"/>
              </a:rPr>
              <a:t>https://www.depts.ttu.edu/online/careercertificates/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endParaRPr lang="en-US" b="0" dirty="0"/>
          </a:p>
          <a:p>
            <a:pPr marL="342900" indent="-34290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dirty="0"/>
              <a:t>More info here:</a:t>
            </a:r>
          </a:p>
          <a:p>
            <a:pPr marL="800100" lvl="1" indent="-342900"/>
            <a:r>
              <a:rPr lang="en-US" b="0" dirty="0">
                <a:hlinkClick r:id="rId4"/>
              </a:rPr>
              <a:t>Special No-Cost Industry Career Certificates Designed for Faculty &amp; Staff</a:t>
            </a:r>
            <a:r>
              <a:rPr lang="en-US" b="0" dirty="0"/>
              <a:t> [</a:t>
            </a:r>
            <a:r>
              <a:rPr lang="en-US" b="0" dirty="0" err="1"/>
              <a:t>TechAnnounce</a:t>
            </a:r>
            <a:r>
              <a:rPr lang="en-US" b="0" dirty="0"/>
              <a:t>, 5/10/2024]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dirty="0"/>
              <a:t>Free (to authorized TTU-affiliated users) ‘massive[</a:t>
            </a:r>
            <a:r>
              <a:rPr lang="en-US" b="0" dirty="0" err="1"/>
              <a:t>ly</a:t>
            </a:r>
            <a:r>
              <a:rPr lang="en-US" b="0" dirty="0"/>
              <a:t>] open’ online course provider’ platform. You can find courses/certs you are interested in and add them to your personal playlist.</a:t>
            </a:r>
          </a:p>
          <a:p>
            <a:pPr marL="342900" indent="-34290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dirty="0"/>
              <a:t>A small sample of ‘general’ DataViz courses/certs/</a:t>
            </a:r>
            <a:r>
              <a:rPr lang="en-US" b="0" dirty="0" err="1"/>
              <a:t>etc</a:t>
            </a:r>
            <a:r>
              <a:rPr lang="en-US" b="0" dirty="0"/>
              <a:t>:</a:t>
            </a:r>
          </a:p>
          <a:p>
            <a:pPr marL="800100" lvl="1" indent="-342900"/>
            <a:r>
              <a:rPr lang="en-US" b="0" dirty="0">
                <a:hlinkClick r:id="rId5"/>
              </a:rPr>
              <a:t>Google Data Analytics Professional Certificate</a:t>
            </a:r>
            <a:endParaRPr lang="en-US" b="0" dirty="0"/>
          </a:p>
          <a:p>
            <a:pPr marL="1485900" lvl="2" indent="-342900"/>
            <a:r>
              <a:rPr lang="en-US" dirty="0">
                <a:hlinkClick r:id="rId6"/>
              </a:rPr>
              <a:t>Share Data Through the Art of Visualization</a:t>
            </a:r>
            <a:r>
              <a:rPr lang="en-US" dirty="0"/>
              <a:t> (part of the above cert)</a:t>
            </a:r>
          </a:p>
          <a:p>
            <a:pPr marL="800100" lvl="1" indent="-342900"/>
            <a:r>
              <a:rPr lang="it-IT" b="0" dirty="0">
                <a:hlinkClick r:id="rId7"/>
              </a:rPr>
              <a:t>Meta Data Analyst Professional Certificate</a:t>
            </a:r>
            <a:endParaRPr lang="en-US" b="0" dirty="0"/>
          </a:p>
          <a:p>
            <a:pPr marL="800100" lvl="1" indent="-342900"/>
            <a:r>
              <a:rPr lang="en-US" b="0" dirty="0"/>
              <a:t>Plenty of others, including by IBM, UI-UC, </a:t>
            </a:r>
            <a:r>
              <a:rPr lang="en-US" b="0" dirty="0" err="1"/>
              <a:t>etc</a:t>
            </a:r>
            <a:r>
              <a:rPr lang="en-US" b="0" dirty="0"/>
              <a:t>:</a:t>
            </a:r>
          </a:p>
          <a:p>
            <a:pPr marL="800100" lvl="1" indent="-342900"/>
            <a:r>
              <a:rPr lang="en-US" b="0" dirty="0">
                <a:hlinkClick r:id="rId8"/>
              </a:rPr>
              <a:t>https://www.coursera.org/search?query=data%20visualization</a:t>
            </a:r>
            <a:r>
              <a:rPr lang="en-US" b="0" dirty="0"/>
              <a:t> </a:t>
            </a:r>
          </a:p>
          <a:p>
            <a:pPr marL="342900" indent="-34290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dirty="0"/>
              <a:t>Also includes ‘applied’ courses, such as:</a:t>
            </a:r>
          </a:p>
          <a:p>
            <a:pPr marL="800100" lvl="1" indent="-342900"/>
            <a:r>
              <a:rPr lang="en-US" dirty="0">
                <a:hlinkClick r:id="rId9"/>
              </a:rPr>
              <a:t>Data Visualization in Excel</a:t>
            </a:r>
            <a:endParaRPr lang="en-US" dirty="0"/>
          </a:p>
          <a:p>
            <a:pPr marL="800100" lvl="1" indent="-342900"/>
            <a:r>
              <a:rPr lang="en-US" dirty="0">
                <a:hlinkClick r:id="rId10"/>
              </a:rPr>
              <a:t>Data Visualization with Python</a:t>
            </a:r>
            <a:endParaRPr lang="en-US" dirty="0"/>
          </a:p>
          <a:p>
            <a:pPr marL="800100" lvl="1" indent="-342900"/>
            <a:r>
              <a:rPr lang="en-US" dirty="0">
                <a:hlinkClick r:id="rId11"/>
              </a:rPr>
              <a:t>Data Visualization &amp; Dashboarding with R Specialization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50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8EDAB-6BD7-F5D7-DCFB-D7CA76472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718"/>
            <a:ext cx="7696200" cy="761682"/>
          </a:xfrm>
        </p:spPr>
        <p:txBody>
          <a:bodyPr/>
          <a:lstStyle/>
          <a:p>
            <a:r>
              <a:rPr lang="en-US" dirty="0"/>
              <a:t>Additional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6CFB5-5D50-9980-E100-143C70259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8382000" cy="5790882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1.) Tufte (1983/2001). "</a:t>
            </a:r>
            <a:r>
              <a:rPr lang="en-US" dirty="0">
                <a:hlinkClick r:id="rId3"/>
              </a:rPr>
              <a:t>The visual display of quantitative information</a:t>
            </a:r>
            <a:r>
              <a:rPr lang="en-US" dirty="0"/>
              <a:t>," Graphics Press.</a:t>
            </a:r>
          </a:p>
          <a:p>
            <a:pPr lvl="1"/>
            <a:r>
              <a:rPr lang="en-US" dirty="0"/>
              <a:t>Author: Edward R. Tufte 1942- (142 results)</a:t>
            </a:r>
          </a:p>
          <a:p>
            <a:pPr lvl="1"/>
            <a:r>
              <a:rPr lang="en-US" dirty="0"/>
              <a:t>Author: Edward R. Tufte 1942- author (9 results)</a:t>
            </a:r>
          </a:p>
          <a:p>
            <a:pPr lvl="1"/>
            <a:r>
              <a:rPr lang="en-US" dirty="0"/>
              <a:t>LCSH: Statistics--Graphic methods (199 results)</a:t>
            </a:r>
          </a:p>
          <a:p>
            <a:pPr lvl="1"/>
            <a:r>
              <a:rPr lang="en-US" dirty="0"/>
              <a:t>LCSH: Information visualization (8,065 results)</a:t>
            </a:r>
          </a:p>
          <a:p>
            <a:pPr lvl="1"/>
            <a:r>
              <a:rPr lang="en-US" dirty="0"/>
              <a:t>LCSH: Visual communication (8,276 results)</a:t>
            </a:r>
            <a:br>
              <a:rPr lang="en-US" dirty="0"/>
            </a:br>
            <a:endParaRPr lang="en-US" dirty="0"/>
          </a:p>
          <a:p>
            <a:r>
              <a:rPr lang="en-US" dirty="0"/>
              <a:t>2.) IBM: “What is data visualization?”</a:t>
            </a:r>
          </a:p>
          <a:p>
            <a:pPr lvl="1"/>
            <a:r>
              <a:rPr lang="en-US" dirty="0">
                <a:hlinkClick r:id="rId4"/>
              </a:rPr>
              <a:t>https://www.ibm.com/topics/data-visualization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Article/resource: </a:t>
            </a:r>
            <a:r>
              <a:rPr lang="en-US" dirty="0">
                <a:hlinkClick r:id="rId5"/>
              </a:rPr>
              <a:t>Visualizing your data in Data Refinery</a:t>
            </a:r>
            <a:br>
              <a:rPr lang="en-US" dirty="0"/>
            </a:br>
            <a:endParaRPr lang="en-US" dirty="0"/>
          </a:p>
          <a:p>
            <a:r>
              <a:rPr lang="en-US" dirty="0"/>
              <a:t>3.) Online Communities</a:t>
            </a:r>
          </a:p>
          <a:p>
            <a:pPr lvl="1"/>
            <a:r>
              <a:rPr lang="en-US" dirty="0"/>
              <a:t>Reddit: </a:t>
            </a:r>
            <a:r>
              <a:rPr lang="en-US" dirty="0">
                <a:hlinkClick r:id="rId6"/>
              </a:rPr>
              <a:t>r/</a:t>
            </a:r>
            <a:r>
              <a:rPr lang="en-US" dirty="0" err="1">
                <a:hlinkClick r:id="rId6"/>
              </a:rPr>
              <a:t>dataisbeautiful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Facebook: </a:t>
            </a:r>
            <a:r>
              <a:rPr lang="en-US" dirty="0">
                <a:hlinkClick r:id="rId7"/>
              </a:rPr>
              <a:t>this is terrible data presentation and we're rejecting your paper</a:t>
            </a:r>
            <a:br>
              <a:rPr lang="en-US" dirty="0"/>
            </a:br>
            <a:endParaRPr lang="en-US" dirty="0"/>
          </a:p>
          <a:p>
            <a:r>
              <a:rPr lang="en-US" dirty="0"/>
              <a:t>4.) Websites</a:t>
            </a:r>
          </a:p>
          <a:p>
            <a:pPr lvl="1"/>
            <a:r>
              <a:rPr lang="en-US" dirty="0"/>
              <a:t>Storytelling With Data (</a:t>
            </a:r>
            <a:r>
              <a:rPr lang="en-US" dirty="0">
                <a:hlinkClick r:id="rId8"/>
              </a:rPr>
              <a:t>https://www.storytellingwithdata.com/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NASA Scientific Visualization Studio (</a:t>
            </a:r>
            <a:r>
              <a:rPr lang="en-US" dirty="0">
                <a:hlinkClick r:id="rId9"/>
              </a:rPr>
              <a:t>https://svs.gsfc.nasa.gov/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  <a:p>
            <a:r>
              <a:rPr lang="en-US" dirty="0"/>
              <a:t>5.) Google Digital Garage</a:t>
            </a:r>
          </a:p>
          <a:p>
            <a:pPr lvl="1"/>
            <a:r>
              <a:rPr lang="en-US" b="0" dirty="0"/>
              <a:t>learndigital.withgoogle.com (now </a:t>
            </a:r>
            <a:r>
              <a:rPr lang="en-US" b="0" dirty="0" err="1">
                <a:hlinkClick r:id="rId10"/>
              </a:rPr>
              <a:t>grow.google</a:t>
            </a:r>
            <a:r>
              <a:rPr lang="en-US" b="0" dirty="0"/>
              <a:t> in the US)</a:t>
            </a:r>
          </a:p>
          <a:p>
            <a:pPr lvl="2"/>
            <a:r>
              <a:rPr lang="en-US" b="0" dirty="0">
                <a:hlinkClick r:id="rId11"/>
              </a:rPr>
              <a:t>Google Data Analytics Certificate</a:t>
            </a:r>
            <a:r>
              <a:rPr lang="en-US" dirty="0"/>
              <a:t> (via </a:t>
            </a:r>
            <a:r>
              <a:rPr lang="en-US" dirty="0">
                <a:hlinkClick r:id="rId12"/>
              </a:rPr>
              <a:t>Coursera</a:t>
            </a:r>
            <a:r>
              <a:rPr lang="en-US" dirty="0"/>
              <a:t>) [variable price, starting @ free-$40]</a:t>
            </a:r>
          </a:p>
          <a:p>
            <a:pPr lvl="3"/>
            <a:r>
              <a:rPr lang="en-US" b="0" dirty="0"/>
              <a:t>Reviews </a:t>
            </a:r>
            <a:r>
              <a:rPr lang="en-US" b="0" dirty="0">
                <a:hlinkClick r:id="rId13"/>
              </a:rPr>
              <a:t>here</a:t>
            </a:r>
            <a:r>
              <a:rPr lang="en-US" b="0" dirty="0"/>
              <a:t>, </a:t>
            </a:r>
            <a:r>
              <a:rPr lang="en-US" b="0" dirty="0">
                <a:hlinkClick r:id="rId14"/>
              </a:rPr>
              <a:t>here</a:t>
            </a:r>
            <a:r>
              <a:rPr lang="en-US" b="0" dirty="0"/>
              <a:t>, </a:t>
            </a:r>
            <a:r>
              <a:rPr lang="en-US" b="0" dirty="0">
                <a:hlinkClick r:id="rId15"/>
              </a:rPr>
              <a:t>here</a:t>
            </a:r>
            <a:r>
              <a:rPr lang="en-US" b="0" dirty="0"/>
              <a:t>, </a:t>
            </a:r>
            <a:r>
              <a:rPr lang="en-US" b="0" dirty="0">
                <a:hlinkClick r:id="rId16"/>
              </a:rPr>
              <a:t>here</a:t>
            </a:r>
            <a:r>
              <a:rPr lang="en-US" b="0" dirty="0"/>
              <a:t>, and </a:t>
            </a:r>
            <a:r>
              <a:rPr lang="en-US" b="0" dirty="0">
                <a:hlinkClick r:id="rId17"/>
              </a:rPr>
              <a:t>here</a:t>
            </a:r>
            <a:endParaRPr lang="en-US" b="0" dirty="0"/>
          </a:p>
          <a:p>
            <a:pPr lvl="1"/>
            <a:r>
              <a:rPr lang="en-US" dirty="0"/>
              <a:t>Still free </a:t>
            </a:r>
            <a:r>
              <a:rPr lang="en-US" dirty="0">
                <a:hlinkClick r:id="rId18"/>
              </a:rPr>
              <a:t>via UK/EUR</a:t>
            </a:r>
            <a:r>
              <a:rPr lang="en-US" dirty="0"/>
              <a:t>) [</a:t>
            </a:r>
            <a:r>
              <a:rPr lang="en-US" dirty="0">
                <a:hlinkClick r:id="rId19"/>
              </a:rPr>
              <a:t>alt link</a:t>
            </a:r>
            <a:r>
              <a:rPr lang="en-US" dirty="0"/>
              <a:t>]</a:t>
            </a:r>
          </a:p>
          <a:p>
            <a:pPr lvl="2"/>
            <a:r>
              <a:rPr lang="en-US" dirty="0">
                <a:hlinkClick r:id="rId20"/>
              </a:rPr>
              <a:t>https://grow.google/intl/uk/courses-and-tools/?category=career&amp;topic=data-analytics</a:t>
            </a:r>
            <a:r>
              <a:rPr lang="en-US" dirty="0"/>
              <a:t> </a:t>
            </a:r>
          </a:p>
          <a:p>
            <a:pPr lvl="3"/>
            <a:r>
              <a:rPr lang="en-US" dirty="0">
                <a:hlinkClick r:id="rId21"/>
              </a:rPr>
              <a:t>https://rsvp.withgoogle.com/events/gdg-telling-stories-with-data-visualisation</a:t>
            </a:r>
            <a:r>
              <a:rPr lang="en-US" dirty="0"/>
              <a:t> </a:t>
            </a:r>
          </a:p>
          <a:p>
            <a:pPr lvl="3"/>
            <a:r>
              <a:rPr lang="en-US" dirty="0">
                <a:hlinkClick r:id="rId22"/>
              </a:rPr>
              <a:t>https://rsvp.withgoogle.com/events/gdg-decision-making-with-data</a:t>
            </a:r>
            <a:r>
              <a:rPr lang="en-US" dirty="0"/>
              <a:t> </a:t>
            </a:r>
          </a:p>
          <a:p>
            <a:pPr lvl="3"/>
            <a:r>
              <a:rPr lang="en-US" dirty="0">
                <a:hlinkClick r:id="rId23"/>
              </a:rPr>
              <a:t>https://rsvp.withgoogle.com/events/gdg-find-insights-with-analytics</a:t>
            </a:r>
            <a:r>
              <a:rPr lang="en-US" dirty="0"/>
              <a:t> </a:t>
            </a:r>
            <a:endParaRPr lang="en-US" b="0" dirty="0"/>
          </a:p>
          <a:p>
            <a:endParaRPr lang="en-US" b="0" dirty="0"/>
          </a:p>
          <a:p>
            <a:r>
              <a:rPr lang="en-US" b="0" dirty="0"/>
              <a:t>Note: LCSH = Library of Congress Subject Headings</a:t>
            </a:r>
          </a:p>
          <a:p>
            <a:pPr lvl="1"/>
            <a:r>
              <a:rPr lang="en-US" dirty="0">
                <a:hlinkClick r:id="rId24"/>
              </a:rPr>
              <a:t>https://www.loc.gov/aba/publications/FreeLCSH/freelcsh.html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70029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8EDAB-6BD7-F5D7-DCFB-D7CA76472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718"/>
            <a:ext cx="8001000" cy="837882"/>
          </a:xfrm>
        </p:spPr>
        <p:txBody>
          <a:bodyPr>
            <a:normAutofit fontScale="90000"/>
          </a:bodyPr>
          <a:lstStyle/>
          <a:p>
            <a:r>
              <a:rPr lang="en-US" dirty="0"/>
              <a:t>Additional Resources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6CFB5-5D50-9980-E100-143C70259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8382000" cy="579088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Who to follow, read, watch, </a:t>
            </a:r>
            <a:r>
              <a:rPr lang="en-US" dirty="0" err="1"/>
              <a:t>etc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Edward Tufte</a:t>
            </a:r>
          </a:p>
          <a:p>
            <a:pPr lvl="2"/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3"/>
              </a:rPr>
              <a:t>https://www.edwardtufte.com/</a:t>
            </a:r>
            <a:endParaRPr lang="en-US" dirty="0"/>
          </a:p>
          <a:p>
            <a:pPr lvl="1"/>
            <a:r>
              <a:rPr lang="en-US" dirty="0"/>
              <a:t>Steve Wexler</a:t>
            </a:r>
          </a:p>
          <a:p>
            <a:pPr lvl="2"/>
            <a:r>
              <a:rPr lang="en-US" dirty="0">
                <a:hlinkClick r:id="rId4"/>
              </a:rPr>
              <a:t>https://x.com/DataRevelations</a:t>
            </a:r>
            <a:endParaRPr lang="en-US" dirty="0"/>
          </a:p>
          <a:p>
            <a:pPr lvl="2"/>
            <a:r>
              <a:rPr lang="en-US" dirty="0">
                <a:hlinkClick r:id="rId5"/>
              </a:rPr>
              <a:t>https://www.datarevelations.com/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Cole </a:t>
            </a:r>
            <a:r>
              <a:rPr lang="en-US" dirty="0" err="1"/>
              <a:t>Nussbaumer</a:t>
            </a:r>
            <a:r>
              <a:rPr lang="en-US" dirty="0"/>
              <a:t> </a:t>
            </a:r>
            <a:r>
              <a:rPr lang="en-US" dirty="0" err="1"/>
              <a:t>Knaflic</a:t>
            </a:r>
            <a:endParaRPr lang="en-US" dirty="0"/>
          </a:p>
          <a:p>
            <a:pPr lvl="2"/>
            <a:r>
              <a:rPr lang="en-US" dirty="0">
                <a:hlinkClick r:id="rId6"/>
              </a:rPr>
              <a:t>https://x.com/storywithdata</a:t>
            </a:r>
            <a:endParaRPr lang="en-US" dirty="0"/>
          </a:p>
          <a:p>
            <a:pPr lvl="2"/>
            <a:r>
              <a:rPr lang="en-US" dirty="0">
                <a:hlinkClick r:id="rId7"/>
              </a:rPr>
              <a:t>https://www.storytellingwithdata.com/</a:t>
            </a:r>
            <a:endParaRPr lang="en-US" dirty="0"/>
          </a:p>
          <a:p>
            <a:pPr lvl="2"/>
            <a:r>
              <a:rPr lang="en-US" dirty="0">
                <a:hlinkClick r:id="rId8"/>
              </a:rPr>
              <a:t>Storytelling with Data</a:t>
            </a:r>
            <a:r>
              <a:rPr lang="en-US" dirty="0"/>
              <a:t> (Talks at Google) [YouTube, 53mins]</a:t>
            </a:r>
          </a:p>
          <a:p>
            <a:pPr lvl="1"/>
            <a:r>
              <a:rPr lang="en-US" dirty="0"/>
              <a:t>Jeffrey Shaffer</a:t>
            </a:r>
          </a:p>
          <a:p>
            <a:pPr lvl="2"/>
            <a:r>
              <a:rPr lang="en-US" dirty="0">
                <a:hlinkClick r:id="rId9"/>
              </a:rPr>
              <a:t>https://x.com/DataPlusScience</a:t>
            </a:r>
            <a:endParaRPr lang="en-US" dirty="0"/>
          </a:p>
          <a:p>
            <a:pPr lvl="2"/>
            <a:r>
              <a:rPr lang="en-US" dirty="0">
                <a:hlinkClick r:id="rId10"/>
              </a:rPr>
              <a:t>https://dataplusscience.com/</a:t>
            </a:r>
            <a:endParaRPr lang="en-US" dirty="0"/>
          </a:p>
          <a:p>
            <a:pPr lvl="2"/>
            <a:r>
              <a:rPr lang="en-US" dirty="0">
                <a:hlinkClick r:id="rId11"/>
              </a:rPr>
              <a:t>https://bigbookofdashboards.com/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Brent Dykes</a:t>
            </a:r>
          </a:p>
          <a:p>
            <a:pPr lvl="2"/>
            <a:r>
              <a:rPr lang="en-US" dirty="0">
                <a:hlinkClick r:id="rId12"/>
              </a:rPr>
              <a:t>https://x.com/analyticshero</a:t>
            </a:r>
            <a:endParaRPr lang="en-US" dirty="0"/>
          </a:p>
          <a:p>
            <a:pPr lvl="2"/>
            <a:r>
              <a:rPr lang="en-US" dirty="0">
                <a:hlinkClick r:id="rId13"/>
              </a:rPr>
              <a:t>https://www.effectivedatastorytelling.com/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6309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620000" cy="1142682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7924800" cy="4953000"/>
          </a:xfrm>
        </p:spPr>
        <p:txBody>
          <a:bodyPr>
            <a:normAutofit lnSpcReduction="10000"/>
          </a:bodyPr>
          <a:lstStyle/>
          <a:p>
            <a:r>
              <a:rPr lang="en-US" b="0" dirty="0"/>
              <a:t>Jake Syma</a:t>
            </a:r>
            <a:br>
              <a:rPr lang="en-US" b="0" dirty="0"/>
            </a:br>
            <a:r>
              <a:rPr lang="en-US" b="0" dirty="0"/>
              <a:t>Technology Services Librarian</a:t>
            </a:r>
            <a:br>
              <a:rPr lang="en-US" b="0" dirty="0"/>
            </a:br>
            <a:r>
              <a:rPr lang="en-US" b="0" dirty="0"/>
              <a:t>Office: 201B</a:t>
            </a:r>
            <a:br>
              <a:rPr lang="en-US" b="0" dirty="0"/>
            </a:br>
            <a:r>
              <a:rPr lang="en-US" b="0" dirty="0"/>
              <a:t>Phone: 806.834.2514</a:t>
            </a:r>
            <a:br>
              <a:rPr lang="en-US" b="0" dirty="0"/>
            </a:br>
            <a:r>
              <a:rPr lang="en-US" b="0" dirty="0"/>
              <a:t>Email: </a:t>
            </a:r>
            <a:r>
              <a:rPr lang="en-US" b="0" dirty="0">
                <a:hlinkClick r:id="rId3"/>
              </a:rPr>
              <a:t>jake.syma@ttu.edu</a:t>
            </a:r>
            <a:endParaRPr lang="en-US" b="0" dirty="0"/>
          </a:p>
          <a:p>
            <a:endParaRPr lang="en-US" b="0" dirty="0"/>
          </a:p>
          <a:p>
            <a:r>
              <a:rPr lang="en-US" b="0" dirty="0"/>
              <a:t>Cynthia Henry</a:t>
            </a:r>
            <a:br>
              <a:rPr lang="en-US" b="0" dirty="0"/>
            </a:br>
            <a:r>
              <a:rPr lang="en-US" b="0" dirty="0"/>
              <a:t>Librarian for the College of Human Sciences</a:t>
            </a:r>
            <a:br>
              <a:rPr lang="en-US" b="0" dirty="0"/>
            </a:br>
            <a:r>
              <a:rPr lang="en-US" b="0" dirty="0"/>
              <a:t>Office: M116 (M=Mezzanine)</a:t>
            </a:r>
            <a:br>
              <a:rPr lang="en-US" b="0" dirty="0"/>
            </a:br>
            <a:r>
              <a:rPr lang="en-US" b="0" dirty="0"/>
              <a:t>Phone: 806.834.0898</a:t>
            </a:r>
            <a:br>
              <a:rPr lang="en-US" b="0" dirty="0"/>
            </a:br>
            <a:r>
              <a:rPr lang="en-US" b="0" dirty="0"/>
              <a:t>Email: </a:t>
            </a:r>
            <a:r>
              <a:rPr lang="en-US" b="0" dirty="0">
                <a:hlinkClick r:id="rId4"/>
              </a:rPr>
              <a:t>cynthia.henry@ttu.edu</a:t>
            </a:r>
            <a:r>
              <a:rPr lang="en-US" b="0" dirty="0"/>
              <a:t> </a:t>
            </a:r>
          </a:p>
          <a:p>
            <a:endParaRPr lang="en-US" b="0" dirty="0"/>
          </a:p>
          <a:p>
            <a:r>
              <a:rPr lang="en-US" b="0" dirty="0"/>
              <a:t>Please also consider taking our online survey about this workshop:</a:t>
            </a:r>
          </a:p>
          <a:p>
            <a:pPr marL="800100" lvl="1" indent="-342900"/>
            <a:r>
              <a:rPr lang="en-US" sz="1800" b="0" dirty="0">
                <a:hlinkClick r:id="rId5"/>
              </a:rPr>
              <a:t>https://ttu.libwizard.com/f/workshop-eval-24-25_emerging_tech</a:t>
            </a:r>
            <a:r>
              <a:rPr lang="en-US" b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23512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A2B89-E740-226A-30C7-D325BC22A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718"/>
            <a:ext cx="7924800" cy="837882"/>
          </a:xfrm>
        </p:spPr>
        <p:txBody>
          <a:bodyPr>
            <a:normAutofit fontScale="90000"/>
          </a:bodyPr>
          <a:lstStyle/>
          <a:p>
            <a:r>
              <a:rPr lang="en-US" dirty="0"/>
              <a:t>Appendix: Applied Exercise(s)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EBD37-43E7-FD08-5138-20D9D2E1A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5334000"/>
          </a:xfrm>
        </p:spPr>
        <p:txBody>
          <a:bodyPr>
            <a:normAutofit fontScale="92500" lnSpcReduction="10000"/>
          </a:bodyPr>
          <a:lstStyle/>
          <a:p>
            <a:r>
              <a:rPr lang="en-US" b="0" dirty="0"/>
              <a:t>Find/identify (then Download + Save) a dataset from somewhere</a:t>
            </a:r>
          </a:p>
          <a:p>
            <a:r>
              <a:rPr lang="en-US" b="0" dirty="0"/>
              <a:t>	(e.g. from the </a:t>
            </a:r>
            <a:r>
              <a:rPr lang="en-US" b="0" dirty="0" err="1">
                <a:hlinkClick r:id="rId2"/>
              </a:rPr>
              <a:t>Mergent</a:t>
            </a:r>
            <a:r>
              <a:rPr lang="en-US" b="0" dirty="0">
                <a:hlinkClick r:id="rId2"/>
              </a:rPr>
              <a:t> Online</a:t>
            </a:r>
            <a:r>
              <a:rPr lang="en-US" b="0" dirty="0"/>
              <a:t> database)</a:t>
            </a:r>
          </a:p>
          <a:p>
            <a:r>
              <a:rPr lang="en-US" b="0" dirty="0"/>
              <a:t>	ko &gt; Equity pricing &gt; Report &gt; Download</a:t>
            </a:r>
          </a:p>
          <a:p>
            <a:r>
              <a:rPr lang="en-US" b="0" dirty="0"/>
              <a:t>In MS Excel: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Open file, then clean, then highlight entire data range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Data &gt; Sort &gt; (Date, Cell Values, A to Z) &gt; ‘OK’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[deal with your ‘Sort Warning’ dialogue box, if applicable]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You can see that it now goes from 2021→2024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Re-highlight entire data range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Insert &gt; Charts &gt; All Charts &gt; Line &gt; Line w/ Markers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Re-size to your liking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&lt;compare to auto-generated chart in </a:t>
            </a:r>
            <a:r>
              <a:rPr lang="en-US" b="0" dirty="0" err="1"/>
              <a:t>Mergent</a:t>
            </a:r>
            <a:r>
              <a:rPr lang="en-US" b="0" dirty="0"/>
              <a:t>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&lt;rescale chart, if needed&gt;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5030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 - &amp;quot;Introduction to the Makerspace&amp;quot;&quot;/&gt;&lt;property id=&quot;20307&quot; value=&quot;256&quot;/&gt;&lt;/object&gt;&lt;object type=&quot;3&quot; unique_id=&quot;10004&quot;&gt;&lt;property id=&quot;20148&quot; value=&quot;5&quot;/&gt;&lt;property id=&quot;20300&quot; value=&quot;Slide 2 - &amp;quot;Overview&amp;quot;&quot;/&gt;&lt;property id=&quot;20307&quot; value=&quot;267&quot;/&gt;&lt;/object&gt;&lt;object type=&quot;3&quot; unique_id=&quot;10091&quot;&gt;&lt;property id=&quot;20148&quot; value=&quot;5&quot;/&gt;&lt;property id=&quot;20300&quot; value=&quot;Slide 3 - &amp;quot;The Library Makerspace&amp;quot;&quot;/&gt;&lt;property id=&quot;20307&quot; value=&quot;297&quot;/&gt;&lt;/object&gt;&lt;object type=&quot;3&quot; unique_id=&quot;10092&quot;&gt;&lt;property id=&quot;20148&quot; value=&quot;5&quot;/&gt;&lt;property id=&quot;20300&quot; value=&quot;Slide 5 - &amp;quot;Makerspace Hardware&amp;quot;&quot;/&gt;&lt;property id=&quot;20307&quot; value=&quot;298&quot;/&gt;&lt;/object&gt;&lt;object type=&quot;3&quot; unique_id=&quot;10093&quot;&gt;&lt;property id=&quot;20148&quot; value=&quot;5&quot;/&gt;&lt;property id=&quot;20300&quot; value=&quot;Slide 6 - &amp;quot;Makerspace software&amp;quot;&quot;/&gt;&lt;property id=&quot;20307&quot; value=&quot;299&quot;/&gt;&lt;/object&gt;&lt;object type=&quot;3&quot; unique_id=&quot;10095&quot;&gt;&lt;property id=&quot;20148&quot; value=&quot;5&quot;/&gt;&lt;property id=&quot;20300&quot; value=&quot;Slide 8 - &amp;quot;How do I print?&amp;quot;&quot;/&gt;&lt;property id=&quot;20307&quot; value=&quot;300&quot;/&gt;&lt;/object&gt;&lt;object type=&quot;3&quot; unique_id=&quot;10142&quot;&gt;&lt;property id=&quot;20148&quot; value=&quot;5&quot;/&gt;&lt;property id=&quot;20300&quot; value=&quot;Slide 9 - &amp;quot;Thingiverse&amp;quot;&quot;/&gt;&lt;property id=&quot;20307&quot; value=&quot;302&quot;/&gt;&lt;/object&gt;&lt;object type=&quot;3&quot; unique_id=&quot;10143&quot;&gt;&lt;property id=&quot;20148&quot; value=&quot;5&quot;/&gt;&lt;property id=&quot;20300&quot; value=&quot;Slide 10 - &amp;quot;Tinkercad&amp;quot;&quot;/&gt;&lt;property id=&quot;20307&quot; value=&quot;303&quot;/&gt;&lt;/object&gt;&lt;object type=&quot;3&quot; unique_id=&quot;10144&quot;&gt;&lt;property id=&quot;20148&quot; value=&quot;5&quot;/&gt;&lt;property id=&quot;20300&quot; value=&quot;Slide 11 - &amp;quot;O’reilly&amp;quot;&quot;/&gt;&lt;property id=&quot;20307&quot; value=&quot;304&quot;/&gt;&lt;/object&gt;&lt;object type=&quot;3&quot; unique_id=&quot;10205&quot;&gt;&lt;property id=&quot;20148&quot; value=&quot;5&quot;/&gt;&lt;property id=&quot;20300&quot; value=&quot;Slide 12 - &amp;quot;Thank you&amp;quot;&quot;/&gt;&lt;property id=&quot;20307&quot; value=&quot;305&quot;/&gt;&lt;/object&gt;&lt;object type=&quot;3&quot; unique_id=&quot;10361&quot;&gt;&lt;property id=&quot;20148&quot; value=&quot;5&quot;/&gt;&lt;property id=&quot;20300&quot; value=&quot;Slide 4 - &amp;quot;Uses of Maker technology&amp;quot;&quot;/&gt;&lt;property id=&quot;20307&quot; value=&quot;306&quot;/&gt;&lt;/object&gt;&lt;object type=&quot;3&quot; unique_id=&quot;10362&quot;&gt;&lt;property id=&quot;20148&quot; value=&quot;5&quot;/&gt;&lt;property id=&quot;20300&quot; value=&quot;Slide 7 - &amp;quot;Getting started&amp;quot;&quot;/&gt;&lt;property id=&quot;20307&quot; value=&quot;307&quot;/&gt;&lt;/object&gt;&lt;/object&gt;&lt;object type=&quot;8&quot; unique_id=&quot;10024&quot;&gt;&lt;/object&gt;&lt;/object&gt;&lt;/database&gt;"/>
  <p:tag name="SECTOMILLISECCONVERTED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Custom 3">
      <a:dk1>
        <a:srgbClr val="000000"/>
      </a:dk1>
      <a:lt1>
        <a:srgbClr val="FFFFFF"/>
      </a:lt1>
      <a:dk2>
        <a:srgbClr val="CC0000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19061</TotalTime>
  <Words>3223</Words>
  <Application>Microsoft Office PowerPoint</Application>
  <PresentationFormat>On-screen Show (4:3)</PresentationFormat>
  <Paragraphs>258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Arial Black</vt:lpstr>
      <vt:lpstr>Calibri</vt:lpstr>
      <vt:lpstr>Essential</vt:lpstr>
      <vt:lpstr>intro to Data Visualization</vt:lpstr>
      <vt:lpstr>Overview</vt:lpstr>
      <vt:lpstr>Research, Instruction, &amp; Outreach (RIO) and Your personal/subject Librarians</vt:lpstr>
      <vt:lpstr>The Emerging Technologies Area</vt:lpstr>
      <vt:lpstr>Hardware in Immersion/DATA Lab</vt:lpstr>
      <vt:lpstr>Terminology</vt:lpstr>
      <vt:lpstr>Intro to Data Visualization</vt:lpstr>
      <vt:lpstr>PowerPoint Presentation</vt:lpstr>
      <vt:lpstr>‘Common’ commercial data Visualization software</vt:lpstr>
      <vt:lpstr>‘Common’ open-source data Visualization software</vt:lpstr>
      <vt:lpstr>other Related Workshops</vt:lpstr>
      <vt:lpstr>O’reilly (via TTU Libraries)</vt:lpstr>
      <vt:lpstr>O’reilly (cont’d)</vt:lpstr>
      <vt:lpstr>Udemy (via TTU)</vt:lpstr>
      <vt:lpstr>Coursera (via TTU) [New!]</vt:lpstr>
      <vt:lpstr>Additional Resources</vt:lpstr>
      <vt:lpstr>Additional Resources (cont’d)</vt:lpstr>
      <vt:lpstr>Thank you</vt:lpstr>
      <vt:lpstr>Appendix: Applied Exercise(s)</vt:lpstr>
    </vt:vector>
  </TitlesOfParts>
  <Company>Texas Tech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Literacy</dc:title>
  <dc:creator>TTU Libraries</dc:creator>
  <cp:lastModifiedBy>Syma, Jake</cp:lastModifiedBy>
  <cp:revision>289</cp:revision>
  <cp:lastPrinted>2024-02-19T19:56:00Z</cp:lastPrinted>
  <dcterms:created xsi:type="dcterms:W3CDTF">2012-01-18T22:45:36Z</dcterms:created>
  <dcterms:modified xsi:type="dcterms:W3CDTF">2025-09-10T19:36:44Z</dcterms:modified>
</cp:coreProperties>
</file>